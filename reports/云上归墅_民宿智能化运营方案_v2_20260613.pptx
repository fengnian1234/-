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3420000"/>
          </a:xfrm>
          <a:prstGeom prst="rect">
            <a:avLst/>
          </a:prstGeom>
          <a:solidFill>
            <a:srgbClr val="3B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0000"/>
            <a:ext cx="12192119" cy="343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80000"/>
            <a:ext cx="7200000" cy="2178000"/>
          </a:xfrm>
          <a:prstGeom prst="rect">
            <a:avLst/>
          </a:prstGeom>
          <a:solidFill>
            <a:srgbClr val="2A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  民宿智能化运营方案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DBB88A"/>
                </a:solidFill>
              </a:defRPr>
            </a:pPr>
            <a:r>
              <a:t>微信公众号客服系统 · AI 智能管家 · 网页全栈搭建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0" y="3060000"/>
            <a:ext cx="10032120" cy="10800"/>
          </a:xfrm>
          <a:prstGeom prst="rect">
            <a:avLst/>
          </a:prstGeom>
          <a:solidFill>
            <a:srgbClr val="5A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3311999"/>
            <a:ext cx="1080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CDCD0"/>
                </a:solidFill>
              </a:defRPr>
            </a:pPr>
            <a:r>
              <a:t>为精品民宿提供从「被动等咨询」到「主动服务+自动运营」的智能化方案</a:t>
            </a:r>
            <a:br/>
            <a:r>
              <a:t>让 AI 管家帮您接待每一位客人，让系统替您完成繁琐的日常运营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4500000"/>
            <a:ext cx="72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DBB88A"/>
                </a:solidFill>
              </a:defRPr>
            </a:pPr>
            <a:r>
              <a:t>  参考案例：庐山 · 云上归墅民宿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5112000"/>
            <a:ext cx="72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ABEB0"/>
                </a:solidFill>
              </a:defRPr>
            </a:pPr>
            <a:r>
              <a:t>11间客房 | 携程 4.7 分 · 85 条评价 | 系统已上线运行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5940000"/>
            <a:ext cx="54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9AE9F"/>
                </a:solidFill>
              </a:defRPr>
            </a:pPr>
            <a:r>
              <a:t>2026年6月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40000" y="648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90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3B5E47"/>
                </a:solidFill>
              </a:defRPr>
            </a:pPr>
            <a:r>
              <a:t>  民宿运营中的常见困扰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1003212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620000"/>
            <a:ext cx="2700000" cy="3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1728000"/>
            <a:ext cx="23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4A7C59"/>
                </a:solidFill>
              </a:defRPr>
            </a:pPr>
            <a: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" y="2232000"/>
            <a:ext cx="2340000" cy="57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咨询量太大</a:t>
            </a:r>
            <a:br/>
            <a:r>
              <a:t>回复不过来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000" y="2951999"/>
            <a:ext cx="2340000" cy="16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住客反复问「有什么房型」</a:t>
            </a:r>
            <a:br/>
            <a:r>
              <a:t>「多少钱」「附近有什么好玩的」</a:t>
            </a:r>
            <a:br/>
            <a:r>
              <a:t>前台一半时间在做重复回答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3347999" y="1620000"/>
            <a:ext cx="2700000" cy="3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7999" y="1728000"/>
            <a:ext cx="23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4A7C59"/>
                </a:solidFill>
              </a:defRPr>
            </a:pPr>
            <a:r>
              <a:t>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7999" y="2232000"/>
            <a:ext cx="2340000" cy="57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夜间无人值守</a:t>
            </a:r>
            <a:br/>
            <a:r>
              <a:t>客人找不到人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999" y="2951999"/>
            <a:ext cx="2340000" cy="16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前台下班后住客无处求助</a:t>
            </a:r>
            <a:br/>
            <a:r>
              <a:t>退房后忘记跟进评价</a:t>
            </a:r>
            <a:br/>
            <a:r>
              <a:t>错过最佳好评时机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999" y="1620000"/>
            <a:ext cx="2700000" cy="3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3999" y="1728000"/>
            <a:ext cx="23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4A7C59"/>
                </a:solidFill>
              </a:defRPr>
            </a:pPr>
            <a:r>
              <a:t>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3999" y="2232000"/>
            <a:ext cx="2340000" cy="57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多渠道订单</a:t>
            </a:r>
            <a:br/>
            <a:r>
              <a:t>管理混乱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3999" y="2951999"/>
            <a:ext cx="2340000" cy="16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携程、美团、飞猪、大众点评</a:t>
            </a:r>
            <a:br/>
            <a:r>
              <a:t>每个平台都要登录查看</a:t>
            </a:r>
            <a:br/>
            <a:r>
              <a:t>哪个渠道卖得好？不知道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79999" y="1620000"/>
            <a:ext cx="2700000" cy="3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59999" y="1728000"/>
            <a:ext cx="23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4A7C59"/>
                </a:solidFill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9999" y="2232000"/>
            <a:ext cx="2340000" cy="57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服务靠记忆</a:t>
            </a:r>
            <a:br/>
            <a:r>
              <a:t>容易遗漏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9999" y="2951999"/>
            <a:ext cx="2340000" cy="16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谁要打扫？谁要送餐？</a:t>
            </a:r>
            <a:br/>
            <a:r>
              <a:t>靠记忆、对讲机、纸条</a:t>
            </a:r>
            <a:br/>
            <a:r>
              <a:t>忙起来总会漏掉一两件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5220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C8966A"/>
                </a:solidFill>
              </a:defRPr>
            </a:pPr>
            <a:r>
              <a:t>  我们的方案：用一套系统，解决以上所有问题，让民宿运营从「人工驱动」升级为「系统驱动」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40000" y="648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90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3B5E47"/>
                </a:solidFill>
              </a:defRPr>
            </a:pPr>
            <a:r>
              <a:t>  方案总览 — 一套系统，全场景覆盖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1003212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512000"/>
            <a:ext cx="2160000" cy="2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512000"/>
            <a:ext cx="2160000" cy="216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1620000"/>
            <a:ext cx="187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4A7C59"/>
                </a:solidFill>
              </a:defRPr>
            </a:pPr>
            <a:r>
              <a:t>[AI]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2124000"/>
            <a:ext cx="187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AI 智能管家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2556000"/>
            <a:ext cx="1872000" cy="1584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A7568"/>
                </a:solidFill>
              </a:defRPr>
            </a:pPr>
            <a:r>
              <a:t>三阶段服务</a:t>
            </a:r>
            <a:br/>
            <a:r>
              <a:t>预订前·预订后·离店后</a:t>
            </a:r>
            <a:br/>
            <a:r>
              <a:t>7×24h 在线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2772000" y="1512000"/>
            <a:ext cx="2160000" cy="2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72000" y="1512000"/>
            <a:ext cx="2160000" cy="216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16000" y="1620000"/>
            <a:ext cx="187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4A7C59"/>
                </a:solidFill>
              </a:defRPr>
            </a:pPr>
            <a:r>
              <a:t>[H5]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6000" y="2124000"/>
            <a:ext cx="187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H5 移动端页面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000" y="2556000"/>
            <a:ext cx="1872000" cy="1584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A7568"/>
                </a:solidFill>
              </a:defRPr>
            </a:pPr>
            <a:r>
              <a:t>10 个功能页面</a:t>
            </a:r>
            <a:br/>
            <a:r>
              <a:t>房型·点单·攻略·服务</a:t>
            </a:r>
            <a:br/>
            <a:r>
              <a:t>适配所有手机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12000" y="1512000"/>
            <a:ext cx="2160000" cy="2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12000" y="1512000"/>
            <a:ext cx="2160000" cy="216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6000" y="1620000"/>
            <a:ext cx="187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4A7C59"/>
                </a:solidFill>
              </a:defRPr>
            </a:pPr>
            <a:r>
              <a:t>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6000" y="2124000"/>
            <a:ext cx="187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积分会员体系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6000" y="2556000"/>
            <a:ext cx="1872000" cy="1584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A7568"/>
                </a:solidFill>
              </a:defRPr>
            </a:pPr>
            <a:r>
              <a:t>积分获取/兑换/等级</a:t>
            </a:r>
            <a:br/>
            <a:r>
              <a:t>激励好评和回头</a:t>
            </a:r>
            <a:br/>
            <a:r>
              <a:t>增强客户粘性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000" y="1512000"/>
            <a:ext cx="2160000" cy="2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52000" y="1512000"/>
            <a:ext cx="2160000" cy="216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95999" y="1620000"/>
            <a:ext cx="187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4A7C59"/>
                </a:solidFill>
              </a:defRPr>
            </a:pPr>
            <a:r>
              <a:t>[后台]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5999" y="2124000"/>
            <a:ext cx="187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运营管理后台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5999" y="2556000"/>
            <a:ext cx="1872000" cy="1584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A7568"/>
                </a:solidFill>
              </a:defRPr>
            </a:pPr>
            <a:r>
              <a:t>多平台订单聚合</a:t>
            </a:r>
            <a:br/>
            <a:r>
              <a:t>服务请求看板</a:t>
            </a:r>
            <a:br/>
            <a:r>
              <a:t>经营数据可视化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92000" y="1512000"/>
            <a:ext cx="2160000" cy="2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92000" y="1512000"/>
            <a:ext cx="2160000" cy="216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36000" y="1620000"/>
            <a:ext cx="187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4A7C59"/>
                </a:solidFill>
              </a:defRPr>
            </a:pPr>
            <a:r>
              <a:t>[OTA]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6000" y="2124000"/>
            <a:ext cx="187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OTA 平台打通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6000" y="2556000"/>
            <a:ext cx="1872000" cy="1584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A7568"/>
                </a:solidFill>
              </a:defRPr>
            </a:pPr>
            <a:r>
              <a:t>携程/美团/飞猪/大众点评</a:t>
            </a:r>
            <a:br/>
            <a:r>
              <a:t>一键跳转预订</a:t>
            </a:r>
            <a:br/>
            <a:r>
              <a:t>订单统一管理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0000" y="3600000"/>
            <a:ext cx="10032120" cy="10800"/>
          </a:xfrm>
          <a:prstGeom prst="rect">
            <a:avLst/>
          </a:prstGeom>
          <a:solidFill>
            <a:srgbClr val="D4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000" y="3888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4A7C59"/>
                </a:solidFill>
              </a:defRPr>
            </a:pPr>
            <a:r>
              <a:t>  民宿只需拥有一个微信公众号，其余全部由我们搭建。住客关注即用，无需下载 App。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4860000"/>
            <a:ext cx="1800000" cy="900000"/>
          </a:xfrm>
          <a:prstGeom prst="rect">
            <a:avLst/>
          </a:prstGeom>
          <a:solidFill>
            <a:srgbClr val="E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000" y="4932000"/>
            <a:ext cx="158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4A7C59"/>
                </a:solidFill>
              </a:defRPr>
            </a:pPr>
            <a: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000" y="5328000"/>
            <a:ext cx="158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B5E47"/>
                </a:solidFill>
              </a:defRPr>
            </a:pPr>
            <a:r>
              <a:t>关注公众号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40000" y="5112000"/>
            <a:ext cx="1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8966A"/>
                </a:solidFill>
              </a:defRPr>
            </a:pPr>
            <a: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20000" y="4860000"/>
            <a:ext cx="1800000" cy="900000"/>
          </a:xfrm>
          <a:prstGeom prst="rect">
            <a:avLst/>
          </a:prstGeom>
          <a:solidFill>
            <a:srgbClr val="E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28000" y="4932000"/>
            <a:ext cx="158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4A7C59"/>
                </a:solidFill>
              </a:defRPr>
            </a:pPr>
            <a: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28000" y="5328000"/>
            <a:ext cx="158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B5E47"/>
                </a:solidFill>
              </a:defRPr>
            </a:pPr>
            <a:r>
              <a:t>浏览房型/攻略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0000" y="5112000"/>
            <a:ext cx="1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8966A"/>
                </a:solidFill>
              </a:defRPr>
            </a:pPr>
            <a: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00000" y="4860000"/>
            <a:ext cx="1800000" cy="900000"/>
          </a:xfrm>
          <a:prstGeom prst="rect">
            <a:avLst/>
          </a:prstGeom>
          <a:solidFill>
            <a:srgbClr val="E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08000" y="4932000"/>
            <a:ext cx="158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4A7C59"/>
                </a:solidFill>
              </a:defRPr>
            </a:pPr>
            <a: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8000" y="5328000"/>
            <a:ext cx="158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B5E47"/>
                </a:solidFill>
              </a:defRPr>
            </a:pPr>
            <a:r>
              <a:t>OTA预订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0000" y="5112000"/>
            <a:ext cx="1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8966A"/>
                </a:solidFill>
              </a:defRPr>
            </a:pPr>
            <a: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80000" y="4860000"/>
            <a:ext cx="1800000" cy="900000"/>
          </a:xfrm>
          <a:prstGeom prst="rect">
            <a:avLst/>
          </a:prstGeom>
          <a:solidFill>
            <a:srgbClr val="E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8000" y="4932000"/>
            <a:ext cx="158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4A7C59"/>
                </a:solidFill>
              </a:defRPr>
            </a:pPr>
            <a: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8000" y="5328000"/>
            <a:ext cx="158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B5E47"/>
                </a:solidFill>
              </a:defRPr>
            </a:pPr>
            <a:r>
              <a:t>绑定解锁AI管家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0000" y="5112000"/>
            <a:ext cx="1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8966A"/>
                </a:solidFill>
              </a:defRPr>
            </a:pPr>
            <a: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60000" y="4860000"/>
            <a:ext cx="1800000" cy="900000"/>
          </a:xfrm>
          <a:prstGeom prst="rect">
            <a:avLst/>
          </a:prstGeom>
          <a:solidFill>
            <a:srgbClr val="E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68000" y="4932000"/>
            <a:ext cx="158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4A7C59"/>
                </a:solidFill>
              </a:defRPr>
            </a:pPr>
            <a: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68000" y="5328000"/>
            <a:ext cx="158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B5E47"/>
                </a:solidFill>
              </a:defRPr>
            </a:pPr>
            <a:r>
              <a:t>入住享受服务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60000" y="5112000"/>
            <a:ext cx="1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8966A"/>
                </a:solidFill>
              </a:defRPr>
            </a:pPr>
            <a: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40000" y="4860000"/>
            <a:ext cx="1800000" cy="900000"/>
          </a:xfrm>
          <a:prstGeom prst="rect">
            <a:avLst/>
          </a:prstGeom>
          <a:solidFill>
            <a:srgbClr val="E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48000" y="4932000"/>
            <a:ext cx="158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4A7C59"/>
                </a:solidFill>
              </a:defRPr>
            </a:pPr>
            <a: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48000" y="5328000"/>
            <a:ext cx="1584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B5E47"/>
                </a:solidFill>
              </a:defRPr>
            </a:pPr>
            <a:r>
              <a:t>离店好评+积分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40000" y="648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3420000"/>
          </a:xfrm>
          <a:prstGeom prst="rect">
            <a:avLst/>
          </a:prstGeom>
          <a:solidFill>
            <a:srgbClr val="3B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0000"/>
            <a:ext cx="12192119" cy="343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  AI 智能管家 — 系统的灵魂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792000"/>
            <a:ext cx="10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CDCD0"/>
                </a:solidFill>
              </a:defRPr>
            </a:pPr>
            <a:r>
              <a:t>不是关键词回复机器人。是能感知客人阶段、切换服务身份、提供恰当帮助的智能管家。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728000"/>
            <a:ext cx="3600000" cy="2880000"/>
          </a:xfrm>
          <a:prstGeom prst="rect">
            <a:avLst/>
          </a:prstGeom>
          <a:solidFill>
            <a:srgbClr val="2A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872000"/>
            <a:ext cx="32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0">
                <a:solidFill>
                  <a:srgbClr val="FFFFFF"/>
                </a:solidFill>
              </a:defRPr>
            </a:pPr>
            <a: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448000"/>
            <a:ext cx="32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BB88A"/>
                </a:solidFill>
              </a:defRPr>
            </a:pPr>
            <a:r>
              <a:t>预订前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808000"/>
            <a:ext cx="32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免费旅行顾问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3311999"/>
            <a:ext cx="3240000" cy="10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EEF4EC"/>
                </a:solidFill>
              </a:defRPr>
            </a:pPr>
            <a:r>
              <a:t>面向所有人</a:t>
            </a:r>
            <a:br/>
            <a:r>
              <a:t>解答庐山攻略、房型</a:t>
            </a:r>
            <a:br/>
            <a:r>
              <a:t>自然引导预订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8000" y="1728000"/>
            <a:ext cx="3600000" cy="2880000"/>
          </a:xfrm>
          <a:prstGeom prst="rect">
            <a:avLst/>
          </a:prstGeom>
          <a:solidFill>
            <a:srgbClr val="3A5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000" y="1872000"/>
            <a:ext cx="32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0">
                <a:solidFill>
                  <a:srgbClr val="FFFFFF"/>
                </a:solidFill>
              </a:defRPr>
            </a:pPr>
            <a:r>
              <a:t>[2]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000" y="2448000"/>
            <a:ext cx="32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BB88A"/>
                </a:solidFill>
              </a:defRPr>
            </a:pPr>
            <a:r>
              <a:t>预订后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000" y="2808000"/>
            <a:ext cx="32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专属AI管家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000" y="3311999"/>
            <a:ext cx="3240000" cy="10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EEF4EC"/>
                </a:solidFill>
              </a:defRPr>
            </a:pPr>
            <a:r>
              <a:t>已预订客人独享</a:t>
            </a:r>
            <a:br/>
            <a:r>
              <a:t>快捷服务呼叫</a:t>
            </a:r>
            <a:br/>
            <a:r>
              <a:t>个性化贴心服务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16000" y="1728000"/>
            <a:ext cx="3600000" cy="2880000"/>
          </a:xfrm>
          <a:prstGeom prst="rect">
            <a:avLst/>
          </a:prstGeom>
          <a:solidFill>
            <a:srgbClr val="4A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6000" y="1872000"/>
            <a:ext cx="32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0">
                <a:solidFill>
                  <a:srgbClr val="FFFFFF"/>
                </a:solidFill>
              </a:defRPr>
            </a:pPr>
            <a:r>
              <a:t>[3]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6000" y="2448000"/>
            <a:ext cx="32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BB88A"/>
                </a:solidFill>
              </a:defRPr>
            </a:pPr>
            <a:r>
              <a:t>离店后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6000" y="2808000"/>
            <a:ext cx="32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复购关怀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6000" y="3311999"/>
            <a:ext cx="3240000" cy="10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EEF4EC"/>
                </a:solidFill>
              </a:defRPr>
            </a:pPr>
            <a:r>
              <a:t>自动好评提醒</a:t>
            </a:r>
            <a:br/>
            <a:r>
              <a:t>积分+等级通知</a:t>
            </a:r>
            <a:br/>
            <a:r>
              <a:t>会员回住激励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5220000"/>
            <a:ext cx="108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  一位 AI 管家 = 全年无休的前台 + 旅行顾问 + 售后客服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5832000"/>
            <a:ext cx="10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BCEC0"/>
                </a:solidFill>
              </a:defRPr>
            </a:pPr>
            <a:r>
              <a:t>同时服务所有客人，不会疲惫、不会遗漏、不会情绪化。夜间也能即时响应。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40000" y="648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90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3B5E47"/>
                </a:solidFill>
              </a:defRPr>
            </a:pPr>
            <a:r>
              <a:t>☕  房型展示 + 在线点单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1003212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620000"/>
            <a:ext cx="5400000" cy="4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728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B5E47"/>
                </a:solidFill>
              </a:defRPr>
            </a:pPr>
            <a:r>
              <a:t>  8 种精选房型在线展示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24000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1">
                <a:solidFill>
                  <a:srgbClr val="3B5E47"/>
                </a:solidFill>
              </a:defRPr>
            </a:pPr>
            <a:r>
              <a:t>特惠单人间 ¥388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0000" y="2124000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A7568"/>
                </a:solidFill>
              </a:defRPr>
            </a:pPr>
            <a:r>
              <a:t>1人 1.5m床 15m²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466000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1">
                <a:solidFill>
                  <a:srgbClr val="3B5E47"/>
                </a:solidFill>
              </a:defRPr>
            </a:pPr>
            <a:r>
              <a:t>特惠标准间 ¥388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0" y="2466000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A7568"/>
                </a:solidFill>
              </a:defRPr>
            </a:pPr>
            <a:r>
              <a:t>2人 2×1.2m 15m²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808000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1">
                <a:solidFill>
                  <a:srgbClr val="3B5E47"/>
                </a:solidFill>
              </a:defRPr>
            </a:pPr>
            <a:r>
              <a:t>知还标准间 ¥488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0" y="2808000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A7568"/>
                </a:solidFill>
              </a:defRPr>
            </a:pPr>
            <a:r>
              <a:t>2人 2×1.2m 20m²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150000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1">
                <a:solidFill>
                  <a:srgbClr val="3B5E47"/>
                </a:solidFill>
              </a:defRPr>
            </a:pPr>
            <a:r>
              <a:t>山野大床房 ¥588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0000" y="3150000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A7568"/>
                </a:solidFill>
              </a:defRPr>
            </a:pPr>
            <a:r>
              <a:t>2人 1.8m大床 20m²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3491999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1">
                <a:solidFill>
                  <a:srgbClr val="3B5E47"/>
                </a:solidFill>
              </a:defRPr>
            </a:pPr>
            <a:r>
              <a:t>山景·精致大床房 ¥688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0000" y="3491999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A7568"/>
                </a:solidFill>
              </a:defRPr>
            </a:pPr>
            <a:r>
              <a:t>2人 1.8m 30m² · 全景窗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3834000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1">
                <a:solidFill>
                  <a:srgbClr val="3B5E47"/>
                </a:solidFill>
              </a:defRPr>
            </a:pPr>
            <a:r>
              <a:t>清舍·露台大床房 ¥788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0000" y="3834000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A7568"/>
                </a:solidFill>
              </a:defRPr>
            </a:pPr>
            <a:r>
              <a:t>2人 1.8m 35m² · 独立露台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4176000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1">
                <a:solidFill>
                  <a:srgbClr val="3B5E47"/>
                </a:solidFill>
              </a:defRPr>
            </a:pPr>
            <a:r>
              <a:t>田园家庭房 ¥788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0000" y="4176000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A7568"/>
                </a:solidFill>
              </a:defRPr>
            </a:pPr>
            <a:r>
              <a:t>3人 1.8+1.2m 20m²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518000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1">
                <a:solidFill>
                  <a:srgbClr val="3B5E47"/>
                </a:solidFill>
              </a:defRPr>
            </a:pPr>
            <a:r>
              <a:t>室雅茶香套房 ¥988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0000" y="4518000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A7568"/>
                </a:solidFill>
              </a:defRPr>
            </a:pPr>
            <a:r>
              <a:t>4人 1.8+1.5m · 独立茶室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0000" y="1620000"/>
            <a:ext cx="5400000" cy="4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0" y="1728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B5E47"/>
                </a:solidFill>
              </a:defRPr>
            </a:pPr>
            <a:r>
              <a:t>☕  在线点单 · 饮品定制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0000" y="2124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1">
                <a:solidFill>
                  <a:srgbClr val="3B5E47"/>
                </a:solidFill>
              </a:defRPr>
            </a:pPr>
            <a:r>
              <a:t>☕ 咖啡+茶饮 (12款)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0000" y="2304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A7568"/>
                </a:solidFill>
              </a:defRPr>
            </a:pPr>
            <a:r>
              <a:t>美式·拿铁·Dirty·云雾茶…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0000" y="2520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1">
                <a:solidFill>
                  <a:srgbClr val="3B5E47"/>
                </a:solidFill>
              </a:defRPr>
            </a:pPr>
            <a:r>
              <a:t> 简餐 (4款)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0000" y="2700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A7568"/>
                </a:solidFill>
              </a:defRPr>
            </a:pPr>
            <a:r>
              <a:t>意面·披萨·小吃拼盘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0000" y="2916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1">
                <a:solidFill>
                  <a:srgbClr val="3B5E47"/>
                </a:solidFill>
              </a:defRPr>
            </a:pPr>
            <a:r>
              <a:t> 甜品 (2款)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0000" y="3096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A7568"/>
                </a:solidFill>
              </a:defRPr>
            </a:pPr>
            <a:r>
              <a:t>提拉米苏·豆乳蛋糕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0000" y="3312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1">
                <a:solidFill>
                  <a:srgbClr val="3B5E47"/>
                </a:solidFill>
              </a:defRPr>
            </a:pPr>
            <a:r>
              <a:t> 特调 (1款)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0000" y="3492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A7568"/>
                </a:solidFill>
              </a:defRPr>
            </a:pPr>
            <a:r>
              <a:t>「没事的」主理人特调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0000" y="3780000"/>
            <a:ext cx="50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C8966A"/>
                </a:solidFill>
              </a:defRPr>
            </a:pPr>
            <a:r>
              <a:t>✨ 饮品定制选项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0000" y="4031999"/>
            <a:ext cx="50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A3328"/>
                </a:solidFill>
              </a:defRPr>
            </a:pPr>
            <a:r>
              <a:t> 云雾茶：红茶/绿茶 · 杯¥38/壶¥98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0000" y="4248000"/>
            <a:ext cx="50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A3328"/>
                </a:solidFill>
              </a:defRPr>
            </a:pPr>
            <a:r>
              <a:t> 糖度：全糖/半糖/无糖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0000" y="4464000"/>
            <a:ext cx="50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A3328"/>
                </a:solidFill>
              </a:defRPr>
            </a:pPr>
            <a:r>
              <a:t> 冰量：正常冰/少冰/温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0000" y="4788000"/>
            <a:ext cx="50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8966A"/>
                </a:solidFill>
              </a:defRPr>
            </a:pPr>
            <a:r>
              <a:t> 住客房间内浏览菜单</a:t>
            </a:r>
            <a:br/>
            <a:r>
              <a:t>定制口味 → 微信支付 → 送餐到房</a:t>
            </a:r>
            <a:br/>
            <a:r>
              <a:t>拓展民宿非房费收入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40000" y="648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90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3B5E47"/>
                </a:solidFill>
              </a:defRPr>
            </a:pPr>
            <a:r>
              <a:t>  游玩攻略 + 美食探店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1003212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512000"/>
            <a:ext cx="5400000" cy="46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620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B5E47"/>
                </a:solidFill>
              </a:defRPr>
            </a:pPr>
            <a:r>
              <a:t>  5 条庐山深度游玩路线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015999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5E47"/>
                </a:solidFill>
              </a:defRPr>
            </a:pPr>
            <a:r>
              <a:t>⭐ 一日精华线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0000" y="2015999"/>
            <a:ext cx="36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A7568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20000" y="2268000"/>
            <a:ext cx="46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6-7h · 西线自然+中线人文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664000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5E47"/>
                </a:solidFill>
              </a:defRPr>
            </a:pPr>
            <a:r>
              <a:t>⭐ 两日全景（推荐）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0000" y="2664000"/>
            <a:ext cx="36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A7568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20000" y="2916000"/>
            <a:ext cx="46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2天 · 五老峰+三叠泉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311999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5E47"/>
                </a:solidFill>
              </a:defRPr>
            </a:pPr>
            <a:r>
              <a:t> 人文寻踪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0000" y="3311999"/>
            <a:ext cx="36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A7568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20000" y="3563999"/>
            <a:ext cx="46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1天 · 白鹿洞→东林→美庐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960000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5E47"/>
                </a:solidFill>
              </a:defRPr>
            </a:pPr>
            <a:r>
              <a:t> 好汉坡穿越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0000" y="3960000"/>
            <a:ext cx="36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A7568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20000" y="4212000"/>
            <a:ext cx="46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5-6h · 15km徒步登顶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4608000"/>
            <a:ext cx="252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5E47"/>
                </a:solidFill>
              </a:defRPr>
            </a:pPr>
            <a:r>
              <a:t> 半日闲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0000" y="4608000"/>
            <a:ext cx="36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A7568"/>
                </a:solidFill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720000" y="4860000"/>
            <a:ext cx="46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A7568"/>
                </a:solidFill>
              </a:defRPr>
            </a:pPr>
            <a:r>
              <a:t>3-4h · 如琴湖→花径→日落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000" y="1512000"/>
            <a:ext cx="5400000" cy="46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0000" y="1620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B5E47"/>
                </a:solidFill>
              </a:defRPr>
            </a:pPr>
            <a:r>
              <a:t>  8 家美食探店推荐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0000" y="1980000"/>
            <a:ext cx="504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A3328"/>
                </a:solidFill>
              </a:defRPr>
            </a:pPr>
            <a:r>
              <a:t> 石牛酒家 · 苍蝇馆子 · ¥55-75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0000" y="2394000"/>
            <a:ext cx="504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A3328"/>
                </a:solidFill>
              </a:defRPr>
            </a:pPr>
            <a:r>
              <a:t> 847别墅餐厅 · 百年别墅 · ¥60-70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0000" y="2808000"/>
            <a:ext cx="504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A3328"/>
                </a:solidFill>
              </a:defRPr>
            </a:pPr>
            <a:r>
              <a:t> 望庐说 · 网红餐厅 · ¥80-100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0000" y="3221999"/>
            <a:ext cx="504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A3328"/>
                </a:solidFill>
              </a:defRPr>
            </a:pPr>
            <a:r>
              <a:t> 庐人村 · 山景餐厅 · ¥80-100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0000" y="3636000"/>
            <a:ext cx="504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A3328"/>
                </a:solidFill>
              </a:defRPr>
            </a:pPr>
            <a:r>
              <a:t> 利民煨汤馆 · 大众9186评 · ¥26-45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0000" y="4050000"/>
            <a:ext cx="504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A3328"/>
                </a:solidFill>
              </a:defRPr>
            </a:pPr>
            <a:r>
              <a:t> 庐山茶饼 · 伴手礼 · ¥10/盒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0000" y="4463999"/>
            <a:ext cx="504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A3328"/>
                </a:solidFill>
              </a:defRPr>
            </a:pPr>
            <a:r>
              <a:t> 庐小仙 · 史努比联名 · ¥18-28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0000" y="4878000"/>
            <a:ext cx="504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A3328"/>
                </a:solidFill>
              </a:defRPr>
            </a:pPr>
            <a:r>
              <a:t> 见山茶 · 网红打卡 · ¥18-32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0000" y="5580000"/>
            <a:ext cx="50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AA598"/>
                </a:solidFill>
              </a:defRPr>
            </a:pPr>
            <a:r>
              <a:t> 每条攻略来自真实住客游记</a:t>
            </a:r>
            <a:br/>
            <a:r>
              <a:t>小红书/大众点评/携程交叉验证</a:t>
            </a:r>
            <a:br/>
            <a:r>
              <a:t>可跳转高德/腾讯地图导航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40000" y="648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90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3B5E47"/>
                </a:solidFill>
              </a:defRPr>
            </a:pPr>
            <a:r>
              <a:t>⭐  快捷服务 + 积分会员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1003212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440000"/>
            <a:ext cx="5400000" cy="46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48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B5E47"/>
                </a:solidFill>
              </a:defRPr>
            </a:pPr>
            <a:r>
              <a:t>  21 项快捷服务，一键呼叫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944000"/>
            <a:ext cx="50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5E47"/>
                </a:solidFill>
              </a:defRPr>
            </a:pPr>
            <a:r>
              <a:t> 客房 (5项)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196000"/>
            <a:ext cx="50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6A7568"/>
                </a:solidFill>
              </a:defRPr>
            </a:pPr>
            <a:r>
              <a:t>续住 · 打扫 · 补充用品 · 送餐 · 洗衣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951999"/>
            <a:ext cx="50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5E47"/>
                </a:solidFill>
              </a:defRPr>
            </a:pPr>
            <a:r>
              <a:t> 前台 (13项)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203999"/>
            <a:ext cx="50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6A7568"/>
                </a:solidFill>
              </a:defRPr>
            </a:pPr>
            <a:r>
              <a:t>行李寄存 · 旅游咨询 · 旅拍 · 路线规划</a:t>
            </a:r>
            <a:br/>
            <a:r>
              <a:t>叫车 · 叫醒 · 搭伙用餐 · 退房</a:t>
            </a:r>
            <a:br/>
            <a:r>
              <a:t>登山杖 · 雨伞 · 充电宝 · 医药箱 · 特产代购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3960000"/>
            <a:ext cx="50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5E47"/>
                </a:solidFill>
              </a:defRPr>
            </a:pPr>
            <a:r>
              <a:t> 维修 (3项)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4212000"/>
            <a:ext cx="50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6A7568"/>
                </a:solidFill>
              </a:defRPr>
            </a:pPr>
            <a:r>
              <a:t>设施报修 · 空调调节 · 热水问题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440000"/>
            <a:ext cx="5400000" cy="46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0" y="1548000"/>
            <a:ext cx="50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B5E47"/>
                </a:solidFill>
              </a:defRPr>
            </a:pPr>
            <a:r>
              <a:t>⭐ 积分+会员，激励回头客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0" y="1872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8966A"/>
                </a:solidFill>
              </a:defRPr>
            </a:pPr>
            <a:r>
              <a:t>-- 如何获取积分 --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0" y="2088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入住消费：每消费 1 元 = 1 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0" y="2322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每日签到：+1 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0" y="2556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写 OTA 评价：+80 分（截图发前台）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0" y="2790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邀请好友预订：+100 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0000" y="3024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生日当月：积分获取 x1.5 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0" y="3348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8966A"/>
                </a:solidFill>
              </a:defRPr>
            </a:pPr>
            <a:r>
              <a:t>-- 积分兑换好礼 --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0000" y="3564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精品咖啡 1 杯 · 需 300 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0000" y="3798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房型免费升级 · 需 500 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0000" y="4032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延迟退房至 14:00 · 需 300 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0000" y="4266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房费抵扣券 50 元 · 需 500 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0000" y="4608000"/>
            <a:ext cx="5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8966A"/>
                </a:solidFill>
              </a:defRPr>
            </a:pPr>
            <a:r>
              <a:t>-- 会员等级 --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0000" y="4824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银卡(0分起) -&gt; 享 95 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0000" y="5058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金卡(累计3000分) -&gt; 享 92 折 + 免费延迟退房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0000" y="5292000"/>
            <a:ext cx="50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A3328"/>
                </a:solidFill>
              </a:defRPr>
            </a:pPr>
            <a:r>
              <a:t>  . 钻石卡(累计8000分) -&gt; 享 9 折 + 免费升级 + 专属管家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40000" y="648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90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3B5E47"/>
                </a:solidFill>
              </a:defRPr>
            </a:pPr>
            <a:r>
              <a:t>  运营后台 — 数据驱动决策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1003212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512000"/>
            <a:ext cx="2736000" cy="30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00" y="1620000"/>
            <a:ext cx="244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  多平台订单聚合看板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2015999"/>
            <a:ext cx="2448000" cy="18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携程/美团/飞猪/大众点评</a:t>
            </a:r>
            <a:br/>
            <a:r>
              <a:t>小红书/抖音/直接预订</a:t>
            </a:r>
            <a:br/>
            <a:r>
              <a:t>7 渠道订单统一管理</a:t>
            </a:r>
            <a:br/>
            <a:r>
              <a:t>今日入住·退房·在住实时可见</a:t>
            </a:r>
            <a:br/>
            <a:r>
              <a:t>未来 7 天到店预测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3888000"/>
            <a:ext cx="244800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3996000"/>
            <a:ext cx="2448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C8966A"/>
                </a:solidFill>
              </a:defRPr>
            </a:pPr>
            <a:r>
              <a:t>不再需要逐个登录</a:t>
            </a:r>
            <a:br/>
            <a:r>
              <a:t>各个 OTA 平台查看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7999" y="1512000"/>
            <a:ext cx="2736000" cy="30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1999" y="1620000"/>
            <a:ext cx="244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  服务请求看板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1999" y="2015999"/>
            <a:ext cx="2448000" cy="18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住客发起的每一条服务请求</a:t>
            </a:r>
            <a:br/>
            <a:r>
              <a:t>自动记录、状态追踪</a:t>
            </a:r>
            <a:br/>
            <a:r>
              <a:t>待处理→处理中→已完成</a:t>
            </a:r>
            <a:br/>
            <a:r>
              <a:t>不再遗漏任何客人需求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1999" y="3888000"/>
            <a:ext cx="244800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1999" y="3996000"/>
            <a:ext cx="2448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C8966A"/>
                </a:solidFill>
              </a:defRPr>
            </a:pPr>
            <a:r>
              <a:t>不再靠纸条和</a:t>
            </a:r>
            <a:br/>
            <a:r>
              <a:t>对讲机传话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999" y="1512000"/>
            <a:ext cx="2736000" cy="30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7999" y="1620000"/>
            <a:ext cx="244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  经营数据看板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7999" y="2015999"/>
            <a:ext cx="2448000" cy="18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各平台订单数·收入占比</a:t>
            </a:r>
            <a:br/>
            <a:r>
              <a:t>入住率趋势·月度年度对比</a:t>
            </a:r>
            <a:br/>
            <a:r>
              <a:t>辅助定价和渠道策略</a:t>
            </a:r>
            <a:br/>
            <a:r>
              <a:t>每周自动生成经营报告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7999" y="3888000"/>
            <a:ext cx="244800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7999" y="3996000"/>
            <a:ext cx="2448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C8966A"/>
                </a:solidFill>
              </a:defRPr>
            </a:pPr>
            <a:r>
              <a:t>用数据做决策</a:t>
            </a:r>
            <a:br/>
            <a:r>
              <a:t>而不是凭感觉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79999" y="1512000"/>
            <a:ext cx="2736000" cy="30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3999" y="1620000"/>
            <a:ext cx="244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⏰  自动化运营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3999" y="2015999"/>
            <a:ext cx="2448000" cy="18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退房后定时推送好评提醒</a:t>
            </a:r>
            <a:br/>
            <a:r>
              <a:t>每周自动生成经营周报</a:t>
            </a:r>
            <a:br/>
            <a:r>
              <a:t>多渠道口碑监控</a:t>
            </a:r>
            <a:br/>
            <a:r>
              <a:t>系统替你干活，你只看结果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3999" y="3888000"/>
            <a:ext cx="244800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3999" y="3996000"/>
            <a:ext cx="2448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C8966A"/>
                </a:solidFill>
              </a:defRPr>
            </a:pPr>
            <a:r>
              <a:t>省下时间</a:t>
            </a:r>
            <a:br/>
            <a:r>
              <a:t>专注于提升服务品质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00" y="4968000"/>
            <a:ext cx="108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4A7C59"/>
                </a:solidFill>
              </a:defRPr>
            </a:pPr>
            <a:r>
              <a:t>  老板在手机上就能查看所有数据，无论身在何处都能掌握民宿运营状况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40000" y="648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90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3B5E47"/>
                </a:solidFill>
              </a:defRPr>
            </a:pPr>
            <a:r>
              <a:t>  系统页面一览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1003212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440000"/>
            <a:ext cx="2700000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1548000"/>
            <a:ext cx="241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4A7C59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4000" y="2088000"/>
            <a:ext cx="241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首页</a:t>
            </a:r>
          </a:p>
        </p:txBody>
      </p:sp>
      <p:sp>
        <p:nvSpPr>
          <p:cNvPr id="7" name="Rectangle 6"/>
          <p:cNvSpPr/>
          <p:nvPr/>
        </p:nvSpPr>
        <p:spPr>
          <a:xfrm>
            <a:off x="3456000" y="1440000"/>
            <a:ext cx="2700000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0" y="1548000"/>
            <a:ext cx="241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4A7C59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600000" y="2088000"/>
            <a:ext cx="241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房型列表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2000" y="1440000"/>
            <a:ext cx="2700000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5999" y="1548000"/>
            <a:ext cx="241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4A7C59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515999" y="2088000"/>
            <a:ext cx="241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房型详情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7999" y="1440000"/>
            <a:ext cx="2700000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31999" y="1548000"/>
            <a:ext cx="241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4A7C59"/>
                </a:solidFill>
              </a:defRPr>
            </a:pPr>
            <a:r>
              <a:t>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1999" y="2088000"/>
            <a:ext cx="241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在线点单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2880000"/>
            <a:ext cx="2700000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4000" y="2988000"/>
            <a:ext cx="241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4A7C59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84000" y="3528000"/>
            <a:ext cx="241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游玩攻略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56000" y="2880000"/>
            <a:ext cx="2700000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0000" y="2988000"/>
            <a:ext cx="241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4A7C59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3600000" y="3528000"/>
            <a:ext cx="241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美食推荐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2000" y="2880000"/>
            <a:ext cx="2700000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5999" y="2988000"/>
            <a:ext cx="241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4A7C59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515999" y="3528000"/>
            <a:ext cx="241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快捷服务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7999" y="2880000"/>
            <a:ext cx="2700000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1999" y="2988000"/>
            <a:ext cx="241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4A7C59"/>
                </a:solidFill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9431999" y="3528000"/>
            <a:ext cx="241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地图导航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4320000"/>
            <a:ext cx="2700000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4000" y="4428000"/>
            <a:ext cx="241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4A7C59"/>
                </a:solidFill>
              </a:defRPr>
            </a:pPr>
            <a:r>
              <a:t>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4000" y="4968000"/>
            <a:ext cx="241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积分中心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56000" y="4320000"/>
            <a:ext cx="2700000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00000" y="4428000"/>
            <a:ext cx="241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4A7C59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3600000" y="4968000"/>
            <a:ext cx="241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订单管理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72000" y="4320000"/>
            <a:ext cx="2700000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5999" y="4428000"/>
            <a:ext cx="241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4A7C59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6515999" y="4968000"/>
            <a:ext cx="241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员工看板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000" y="5940000"/>
            <a:ext cx="10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9AA598"/>
                </a:solidFill>
              </a:defRPr>
            </a:pPr>
            <a:r>
              <a:t>✅  所有页面响应式设计 · 适配各种手机屏幕 · 深色/浅色模式自动切换 · 春夏秋冬三季主题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40000" y="648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90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3B5E47"/>
                </a:solidFill>
              </a:defRPr>
            </a:pPr>
            <a:r>
              <a:t>  传统运营 vs 智能化运营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1003212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368000"/>
            <a:ext cx="11160000" cy="540000"/>
          </a:xfrm>
          <a:prstGeom prst="rect">
            <a:avLst/>
          </a:prstGeom>
          <a:solidFill>
            <a:srgbClr val="3B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440000"/>
            <a:ext cx="1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0" y="1440000"/>
            <a:ext cx="39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B0B0"/>
                </a:solidFill>
              </a:defRPr>
            </a:pPr>
            <a:r>
              <a:t>  传统方式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440000"/>
            <a:ext cx="54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A0D8A0"/>
                </a:solidFill>
              </a:defRPr>
            </a:pPr>
            <a:r>
              <a:t>✅  智能化方案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2015999"/>
            <a:ext cx="11160000" cy="666000"/>
          </a:xfrm>
          <a:prstGeom prst="rect">
            <a:avLst/>
          </a:prstGeom>
          <a:solidFill>
            <a:srgbClr val="E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2124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客服响应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0000" y="2124000"/>
            <a:ext cx="396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人工回复，晚间无人</a:t>
            </a:r>
            <a:br/>
            <a:r>
              <a:t>重复回答相同问题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2124000"/>
            <a:ext cx="54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B5E47"/>
                </a:solidFill>
              </a:defRPr>
            </a:pPr>
            <a:r>
              <a:t>AI 7×24h 自动应答</a:t>
            </a:r>
            <a:br/>
            <a:r>
              <a:t>80%+ 咨询无需人工参与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2736000"/>
            <a:ext cx="11160000" cy="6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844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房型展示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40000" y="2844000"/>
            <a:ext cx="396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住客反复电话询问</a:t>
            </a:r>
            <a:br/>
            <a:r>
              <a:t>前台口头介绍，信息不一致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000" y="2844000"/>
            <a:ext cx="54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B5E47"/>
                </a:solidFill>
              </a:defRPr>
            </a:pPr>
            <a:r>
              <a:t>H5 页面自助浏览</a:t>
            </a:r>
            <a:br/>
            <a:r>
              <a:t>图片+设施+价格清晰透明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3456000"/>
            <a:ext cx="11160000" cy="666000"/>
          </a:xfrm>
          <a:prstGeom prst="rect">
            <a:avLst/>
          </a:prstGeom>
          <a:solidFill>
            <a:srgbClr val="E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3564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在线点单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0000" y="3564000"/>
            <a:ext cx="396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无线上渠道</a:t>
            </a:r>
            <a:br/>
            <a:r>
              <a:t>只能到店消费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564000"/>
            <a:ext cx="54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B5E47"/>
                </a:solidFill>
              </a:defRPr>
            </a:pPr>
            <a:r>
              <a:t>手机浏览+口味定制+微信支付</a:t>
            </a:r>
            <a:br/>
            <a:r>
              <a:t>拓展非房收入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000" y="4176000"/>
            <a:ext cx="11160000" cy="6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" y="4284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好评跟进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0000" y="4284000"/>
            <a:ext cx="396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退房后忘记跟进</a:t>
            </a:r>
            <a:br/>
            <a:r>
              <a:t>人工催评体验尴尬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000" y="4284000"/>
            <a:ext cx="54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B5E47"/>
                </a:solidFill>
              </a:defRPr>
            </a:pPr>
            <a:r>
              <a:t>自动定时推送+积分激励</a:t>
            </a:r>
            <a:br/>
            <a:r>
              <a:t>得体高效，转化率更高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4896000"/>
            <a:ext cx="11160000" cy="666000"/>
          </a:xfrm>
          <a:prstGeom prst="rect">
            <a:avLst/>
          </a:prstGeom>
          <a:solidFill>
            <a:srgbClr val="E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000" y="5004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订单管理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40000" y="5004000"/>
            <a:ext cx="396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逐个登录 OTA 平台</a:t>
            </a:r>
            <a:br/>
            <a:r>
              <a:t>数据分散难以对比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000" y="5004000"/>
            <a:ext cx="54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B5E47"/>
                </a:solidFill>
              </a:defRPr>
            </a:pPr>
            <a:r>
              <a:t>一站式聚合看板</a:t>
            </a:r>
            <a:br/>
            <a:r>
              <a:t>各平台数据一目了然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5616000"/>
            <a:ext cx="11160000" cy="6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000" y="5724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会员运营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40000" y="5724000"/>
            <a:ext cx="396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无会员体系</a:t>
            </a:r>
            <a:br/>
            <a:r>
              <a:t>回头客靠缘分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000" y="5724000"/>
            <a:ext cx="54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B5E47"/>
                </a:solidFill>
              </a:defRPr>
            </a:pPr>
            <a:r>
              <a:t>积分+等级+生日月</a:t>
            </a:r>
            <a:br/>
            <a:r>
              <a:t>系统化激励复购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40000" y="648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3420000"/>
          </a:xfrm>
          <a:prstGeom prst="rect">
            <a:avLst/>
          </a:prstGeom>
          <a:solidFill>
            <a:srgbClr val="3B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0000"/>
            <a:ext cx="12192119" cy="343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  案例：云上归墅民宿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792000"/>
            <a:ext cx="10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CDCD0"/>
                </a:solidFill>
              </a:defRPr>
            </a:pPr>
            <a:r>
              <a:t>庐山山上 · 大林沟路27号  |  11间客房  |  携程 4.7 分 · 85 条评价  |  系统已上线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620000"/>
            <a:ext cx="2736000" cy="2520000"/>
          </a:xfrm>
          <a:prstGeom prst="rect">
            <a:avLst/>
          </a:prstGeom>
          <a:solidFill>
            <a:srgbClr val="2A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692000"/>
            <a:ext cx="237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0">
                <a:solidFill>
                  <a:srgbClr val="FFFFFF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12000" y="2124000"/>
            <a:ext cx="2376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管家 7×24h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" y="2448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CEC0"/>
                </a:solidFill>
              </a:defRPr>
            </a:pPr>
            <a:r>
              <a:t>✓  常规咨询自动应答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2772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CEC0"/>
                </a:solidFill>
              </a:defRPr>
            </a:pPr>
            <a:r>
              <a:t>✓  前台夜间无需值守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" y="3096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CEC0"/>
                </a:solidFill>
              </a:defRPr>
            </a:pPr>
            <a:r>
              <a:t>✓  住客体验一致优质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7999" y="1620000"/>
            <a:ext cx="2736000" cy="2520000"/>
          </a:xfrm>
          <a:prstGeom prst="rect">
            <a:avLst/>
          </a:prstGeom>
          <a:solidFill>
            <a:srgbClr val="2A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999" y="1692000"/>
            <a:ext cx="237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0">
                <a:solidFill>
                  <a:srgbClr val="FFFFFF"/>
                </a:solidFill>
              </a:defRPr>
            </a:pPr>
            <a:r>
              <a:t>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999" y="2124000"/>
            <a:ext cx="2376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在线点单创收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99" y="2448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CEC0"/>
                </a:solidFill>
              </a:defRPr>
            </a:pPr>
            <a:r>
              <a:t>✓  咖啡茶饮线上销售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7999" y="2772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CEC0"/>
                </a:solidFill>
              </a:defRPr>
            </a:pPr>
            <a:r>
              <a:t>✓  饮品定制提升体验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999" y="3096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CEC0"/>
                </a:solidFill>
              </a:defRPr>
            </a:pPr>
            <a:r>
              <a:t>✓  送餐到房无需下楼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999" y="1620000"/>
            <a:ext cx="2736000" cy="2520000"/>
          </a:xfrm>
          <a:prstGeom prst="rect">
            <a:avLst/>
          </a:prstGeom>
          <a:solidFill>
            <a:srgbClr val="2A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3999" y="1692000"/>
            <a:ext cx="237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0">
                <a:solidFill>
                  <a:srgbClr val="FFFFFF"/>
                </a:solidFill>
              </a:defRPr>
            </a:pPr>
            <a:r>
              <a:t>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999" y="2124000"/>
            <a:ext cx="2376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好评自动跟进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999" y="2448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CEC0"/>
                </a:solidFill>
              </a:defRPr>
            </a:pPr>
            <a:r>
              <a:t>✓  退房后智能推送提醒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3999" y="2772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CEC0"/>
                </a:solidFill>
              </a:defRPr>
            </a:pPr>
            <a:r>
              <a:t>✓  积分激励写评价+80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3999" y="3096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CEC0"/>
                </a:solidFill>
              </a:defRPr>
            </a:pPr>
            <a:r>
              <a:t>✓  好评率持续提升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79999" y="1620000"/>
            <a:ext cx="2736000" cy="2520000"/>
          </a:xfrm>
          <a:prstGeom prst="rect">
            <a:avLst/>
          </a:prstGeom>
          <a:solidFill>
            <a:srgbClr val="2A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59999" y="1692000"/>
            <a:ext cx="237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0">
                <a:solidFill>
                  <a:srgbClr val="FFFFFF"/>
                </a:solidFill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9359999" y="2124000"/>
            <a:ext cx="2376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会员粘性增强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9999" y="2448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CEC0"/>
                </a:solidFill>
              </a:defRPr>
            </a:pPr>
            <a:r>
              <a:t>✓  积分+等级+生日月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9999" y="2772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CEC0"/>
                </a:solidFill>
              </a:defRPr>
            </a:pPr>
            <a:r>
              <a:t>✓  钻石卡9折+专属管家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9999" y="3096000"/>
            <a:ext cx="2376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CEC0"/>
                </a:solidFill>
              </a:defRPr>
            </a:pPr>
            <a:r>
              <a:t>✓  回头客比例上升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4500000"/>
            <a:ext cx="11304000" cy="1260000"/>
          </a:xfrm>
          <a:prstGeom prst="rect">
            <a:avLst/>
          </a:prstGeom>
          <a:solidFill>
            <a:srgbClr val="2A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000" y="4608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DE8DD"/>
                </a:solidFill>
              </a:defRPr>
            </a:pPr>
            <a:r>
              <a:t>"以前住客半夜找前台问第二天去哪玩，我们也答不上来。现在 AI 管家直接给攻略，客人体验好了，我们也省心多了。"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000" y="5220000"/>
            <a:ext cx="10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DBB88A"/>
                </a:solidFill>
              </a:defRPr>
            </a:pPr>
            <a:r>
              <a:t>—— 云上归墅民宿运营者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000" y="6048000"/>
            <a:ext cx="10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AABEB0"/>
                </a:solidFill>
              </a:defRPr>
            </a:pPr>
            <a:r>
              <a:t>  云上归墅是我们服务的首个客户，系统已完整上线。欢迎关注公众号「云上归墅民宿」实际体验。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40000" y="648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90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3B5E47"/>
                </a:solidFill>
              </a:defRPr>
            </a:pPr>
            <a:r>
              <a:t>  哪些民宿需要这套方案？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1003212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620000"/>
            <a:ext cx="21960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620000"/>
            <a:ext cx="2196000" cy="216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1728000"/>
            <a:ext cx="190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4A7C59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76000" y="2232000"/>
            <a:ext cx="190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精品民宿/设计师民宿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2664000"/>
            <a:ext cx="1908000" cy="2484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A7568"/>
                </a:solidFill>
              </a:defRPr>
            </a:pPr>
            <a:r>
              <a:t>5-30 间房，注重品牌和体验</a:t>
            </a:r>
            <a:br/>
            <a:r>
              <a:t>希望提升调性但无法自建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8000" y="1620000"/>
            <a:ext cx="21960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08000" y="1620000"/>
            <a:ext cx="2196000" cy="216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1999" y="1728000"/>
            <a:ext cx="190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C8966A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2951999" y="2232000"/>
            <a:ext cx="190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景区周边民宿集群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1999" y="2664000"/>
            <a:ext cx="1908000" cy="2484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A7568"/>
                </a:solidFill>
              </a:defRPr>
            </a:pPr>
            <a:r>
              <a:t>庐山、大理、莫干山、安吉</a:t>
            </a:r>
            <a:br/>
            <a:r>
              <a:t>住客对周边攻略需求强烈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83999" y="1620000"/>
            <a:ext cx="21960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83999" y="1620000"/>
            <a:ext cx="2196000" cy="21600"/>
          </a:xfrm>
          <a:prstGeom prst="rect">
            <a:avLst/>
          </a:prstGeom>
          <a:solidFill>
            <a:srgbClr val="6B9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8000" y="1728000"/>
            <a:ext cx="190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6B9B7E"/>
                </a:solidFill>
              </a:defRPr>
            </a:pPr>
            <a:r>
              <a:t>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8000" y="2232000"/>
            <a:ext cx="190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自带餐饮的民宿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8000" y="2664000"/>
            <a:ext cx="1908000" cy="2484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A7568"/>
                </a:solidFill>
              </a:defRPr>
            </a:pPr>
            <a:r>
              <a:t>有咖啡馆/茶室/简餐厅</a:t>
            </a:r>
            <a:br/>
            <a:r>
              <a:t>希望通过线上拓展非房收入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59999" y="1620000"/>
            <a:ext cx="21960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59999" y="1620000"/>
            <a:ext cx="2196000" cy="21600"/>
          </a:xfrm>
          <a:prstGeom prst="rect">
            <a:avLst/>
          </a:prstGeom>
          <a:solidFill>
            <a:srgbClr val="8B7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03999" y="1728000"/>
            <a:ext cx="190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8B7355"/>
                </a:solidFill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703999" y="2232000"/>
            <a:ext cx="190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多平台运营民宿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3999" y="2664000"/>
            <a:ext cx="1908000" cy="2484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A7568"/>
                </a:solidFill>
              </a:defRPr>
            </a:pPr>
            <a:r>
              <a:t>携程/美团/飞猪/大众点评</a:t>
            </a:r>
            <a:br/>
            <a:r>
              <a:t>同时上线，需统一管理后台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36000" y="1620000"/>
            <a:ext cx="21960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36000" y="1620000"/>
            <a:ext cx="2196000" cy="21600"/>
          </a:xfrm>
          <a:prstGeom prst="rect">
            <a:avLst/>
          </a:prstGeom>
          <a:solidFill>
            <a:srgbClr val="5A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79999" y="1728000"/>
            <a:ext cx="190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5A8C6A"/>
                </a:solidFill>
              </a:defRPr>
            </a:pPr>
            <a:r>
              <a:t>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9999" y="2232000"/>
            <a:ext cx="1908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5E47"/>
                </a:solidFill>
              </a:defRPr>
            </a:pPr>
            <a:r>
              <a:t>希望提升好评的民宿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9999" y="2664000"/>
            <a:ext cx="1908000" cy="2484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A7568"/>
                </a:solidFill>
              </a:defRPr>
            </a:pPr>
            <a:r>
              <a:t>入住稳定但评价偏少</a:t>
            </a:r>
            <a:br/>
            <a:r>
              <a:t>需系统化的评价激励机制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5580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C8966A"/>
                </a:solidFill>
              </a:defRPr>
            </a:pPr>
            <a:r>
              <a:t>  无论您是单体民宿还是小型连锁，只要希望通过技术手段提升运营效率和服务品质，这套方案都适合您。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40000" y="648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90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3B5E47"/>
                </a:solidFill>
              </a:defRPr>
            </a:pPr>
            <a:r>
              <a:t>  我们交付什么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10032120" cy="10800"/>
          </a:xfrm>
          <a:prstGeom prst="rect">
            <a:avLst/>
          </a:prstGeom>
          <a:solidFill>
            <a:srgbClr val="C8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512000"/>
            <a:ext cx="36000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1584000"/>
            <a:ext cx="32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4A7C59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12000" y="2015999"/>
            <a:ext cx="32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AI 智能管家系统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000" y="2376000"/>
            <a:ext cx="324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三阶段服务：旅行顾问→专属管家→复购关怀</a:t>
            </a:r>
            <a:br/>
            <a:r>
              <a:t>7×24h 自动值守，住客关注公众号即可使用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0" y="1512000"/>
            <a:ext cx="36000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0" y="1584000"/>
            <a:ext cx="32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4A7C59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500000" y="2015999"/>
            <a:ext cx="32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移动端 H5 网页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0" y="2376000"/>
            <a:ext cx="324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10 个功能页面，嵌入公众号菜单</a:t>
            </a:r>
            <a:br/>
            <a:r>
              <a:t>房型·点单·攻略·服务·积分中心</a:t>
            </a:r>
            <a:br/>
            <a:r>
              <a:t>响应式设计，适配所有手机屏幕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8000" y="1512000"/>
            <a:ext cx="36000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8000" y="1584000"/>
            <a:ext cx="32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4A7C59"/>
                </a:solidFill>
              </a:defRPr>
            </a:pPr>
            <a:r>
              <a:t>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8000" y="2015999"/>
            <a:ext cx="32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积分会员体系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8000" y="2376000"/>
            <a:ext cx="324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积分获取/兑换/等级管理</a:t>
            </a:r>
            <a:br/>
            <a:r>
              <a:t>激励好评 + 回头入住</a:t>
            </a:r>
            <a:br/>
            <a:r>
              <a:t>生日月 ×1.5 倍积分加成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744000"/>
            <a:ext cx="36000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000" y="3816000"/>
            <a:ext cx="32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4A7C59"/>
                </a:solidFill>
              </a:defRPr>
            </a:pPr>
            <a:r>
              <a:t>[后台]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000" y="4248000"/>
            <a:ext cx="32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运营管理后台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000" y="4608000"/>
            <a:ext cx="324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多平台订单聚合看板</a:t>
            </a:r>
            <a:br/>
            <a:r>
              <a:t>服务请求追踪看板</a:t>
            </a:r>
            <a:br/>
            <a:r>
              <a:t>经营数据 + 每周自动周报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0" y="3744000"/>
            <a:ext cx="36000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0000" y="3816000"/>
            <a:ext cx="32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4A7C59"/>
                </a:solidFill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500000" y="4248000"/>
            <a:ext cx="32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预订渠道对接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0000" y="4608000"/>
            <a:ext cx="324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携程/美团/飞猪/大众点评</a:t>
            </a:r>
            <a:br/>
            <a:r>
              <a:t>一键跳转预订 + 订单统一管理</a:t>
            </a:r>
            <a:br/>
            <a:r>
              <a:t>退房后好评自动推送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08000" y="3744000"/>
            <a:ext cx="36000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8000" y="3816000"/>
            <a:ext cx="32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4A7C59"/>
                </a:solidFill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8388000" y="4248000"/>
            <a:ext cx="32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B5E47"/>
                </a:solidFill>
              </a:defRPr>
            </a:pPr>
            <a:r>
              <a:t>视觉定制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8000" y="4608000"/>
            <a:ext cx="324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A7568"/>
                </a:solidFill>
              </a:defRPr>
            </a:pPr>
            <a:r>
              <a:t>匹配民宿品牌配色和设计风格</a:t>
            </a:r>
            <a:br/>
            <a:r>
              <a:t>深色/浅色模式 + 季节主题</a:t>
            </a:r>
            <a:br/>
            <a:r>
              <a:t>民宿 Logo 和视觉元素融入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40000" y="648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3420000"/>
          </a:xfrm>
          <a:prstGeom prst="rect">
            <a:avLst/>
          </a:prstGeom>
          <a:solidFill>
            <a:srgbClr val="3B5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0000"/>
            <a:ext cx="12192119" cy="343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260000"/>
            <a:ext cx="108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  让您的民宿也拥有智能大脑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340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DBB88A"/>
                </a:solidFill>
              </a:defRPr>
            </a:pPr>
            <a:r>
              <a:t>微信公众号客服系统 · AI 智能管家 · 在线点单 · 会员积分 · 订单管理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0" y="3060000"/>
            <a:ext cx="10032120" cy="10800"/>
          </a:xfrm>
          <a:prstGeom prst="rect">
            <a:avLst/>
          </a:prstGeom>
          <a:solidFill>
            <a:srgbClr val="5A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3420000"/>
            <a:ext cx="108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CCDCD0"/>
                </a:solidFill>
              </a:defRPr>
            </a:pPr>
            <a:r>
              <a:t>我们提供的不是一个模板，而是一套为民宿量身定制的完整解决方案</a:t>
            </a:r>
            <a:br/>
            <a:r>
              <a:t>以云上归墅为真实案例，已在庐山风景区实际运行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0" y="4500000"/>
            <a:ext cx="6480000" cy="1260000"/>
          </a:xfrm>
          <a:prstGeom prst="rect">
            <a:avLst/>
          </a:prstGeom>
          <a:solidFill>
            <a:srgbClr val="2A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0" y="4608000"/>
            <a:ext cx="612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欢迎关注「云上归墅民宿」微信公众号</a:t>
            </a:r>
            <a:br/>
            <a:r>
              <a:t>实际体验全套系统功能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0000" y="5220000"/>
            <a:ext cx="61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BCEC0"/>
                </a:solidFill>
              </a:defRPr>
            </a:pPr>
            <a:r>
              <a:t>微信中搜索「云上归墅民宿」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6120000"/>
            <a:ext cx="10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99AE9F"/>
                </a:solidFill>
              </a:defRPr>
            </a:pPr>
            <a:r>
              <a:t>方案版本 v2.14  ·  2026年6月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40000" y="6480000"/>
            <a:ext cx="144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9AA598"/>
                </a:solidFill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