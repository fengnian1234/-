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3420000"/>
          </a:xfrm>
          <a:prstGeom prst="rect">
            <a:avLst/>
          </a:prstGeom>
          <a:solidFill>
            <a:srgbClr val="3B5E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420000"/>
            <a:ext cx="12192119" cy="343800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680000"/>
            <a:ext cx="7200000" cy="2178000"/>
          </a:xfrm>
          <a:prstGeom prst="rect">
            <a:avLst/>
          </a:prstGeom>
          <a:solidFill>
            <a:srgbClr val="2A4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0000" y="720000"/>
            <a:ext cx="10800000" cy="72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云上 . 归墅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620000"/>
            <a:ext cx="10800000" cy="54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0">
                <a:solidFill>
                  <a:srgbClr val="DBB88A"/>
                </a:solidFill>
              </a:defRPr>
            </a:pPr>
            <a:r>
              <a:t>微信公众号智能服务系统 . 项目规划方案</a:t>
            </a:r>
          </a:p>
        </p:txBody>
      </p:sp>
      <p:sp>
        <p:nvSpPr>
          <p:cNvPr id="7" name="Rectangle 6"/>
          <p:cNvSpPr/>
          <p:nvPr/>
        </p:nvSpPr>
        <p:spPr>
          <a:xfrm>
            <a:off x="1080000" y="2340000"/>
            <a:ext cx="10032120" cy="10800"/>
          </a:xfrm>
          <a:prstGeom prst="rect">
            <a:avLst/>
          </a:prstGeom>
          <a:solidFill>
            <a:srgbClr val="5A8C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0000" y="2700000"/>
            <a:ext cx="10800000" cy="72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C8966A"/>
                </a:solidFill>
              </a:defRPr>
            </a:pPr>
            <a:r>
              <a:t>云无心以出岫，鸟倦飞而知还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3600000"/>
            <a:ext cx="10800000" cy="54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0">
                <a:solidFill>
                  <a:srgbClr val="AABEB0"/>
                </a:solidFill>
              </a:defRPr>
            </a:pPr>
            <a:r>
              <a:t>庐山山上 . 大林沟路27号  |  11间客房  |  携程4.7分  |  2016年开业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0000" y="5940000"/>
            <a:ext cx="1080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99AE9F"/>
                </a:solidFill>
              </a:defRPr>
            </a:pPr>
            <a:r>
              <a:t>2026年6月  .  项目规划方案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40000" y="6552000"/>
            <a:ext cx="1440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800" b="0">
                <a:solidFill>
                  <a:srgbClr val="9AA598"/>
                </a:solidFill>
              </a:defRPr>
            </a:pPr>
            <a:r>
              <a:t>1/14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288000"/>
            <a:ext cx="10800000" cy="54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600" b="1">
                <a:solidFill>
                  <a:srgbClr val="3B5E47"/>
                </a:solidFill>
              </a:defRPr>
            </a:pPr>
            <a:r>
              <a:t>项目概览 -- 为您定制的智能化升级方案</a:t>
            </a:r>
          </a:p>
        </p:txBody>
      </p:sp>
      <p:sp>
        <p:nvSpPr>
          <p:cNvPr id="3" name="Rectangle 2"/>
          <p:cNvSpPr/>
          <p:nvPr/>
        </p:nvSpPr>
        <p:spPr>
          <a:xfrm>
            <a:off x="1080000" y="900000"/>
            <a:ext cx="10032120" cy="10800"/>
          </a:xfrm>
          <a:prstGeom prst="rect">
            <a:avLst/>
          </a:prstGeom>
          <a:solidFill>
            <a:srgbClr val="C89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1080000"/>
            <a:ext cx="1080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6A7568"/>
                </a:solidFill>
              </a:defRPr>
            </a:pPr>
            <a:r>
              <a:t>以下为本项目规划建设的四大核心模块，建成后将部署于云上归墅微信公众号。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432000" y="1620000"/>
            <a:ext cx="2736000" cy="32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32000" y="1620000"/>
            <a:ext cx="2736000" cy="2160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6000" y="1692000"/>
            <a:ext cx="2448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4A7C59"/>
                </a:solidFill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576000" y="2088000"/>
            <a:ext cx="2448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3B5E47"/>
                </a:solidFill>
              </a:defRPr>
            </a:pPr>
            <a:r>
              <a:t>AI智能管家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00" y="2448000"/>
            <a:ext cx="2448000" cy="234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6A7568"/>
                </a:solidFill>
              </a:defRPr>
            </a:pPr>
            <a:r>
              <a:t>三阶段全链路服务设计</a:t>
            </a:r>
            <a:br/>
            <a:r>
              <a:t>预订前：免费旅行顾问</a:t>
            </a:r>
            <a:br/>
            <a:r>
              <a:t>预订后：专属AI管家</a:t>
            </a:r>
            <a:br/>
            <a:r>
              <a:t>离店后：持续复购关怀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47999" y="1620000"/>
            <a:ext cx="2736000" cy="32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47999" y="1620000"/>
            <a:ext cx="2736000" cy="2160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91999" y="1692000"/>
            <a:ext cx="2448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4A7C59"/>
                </a:solidFill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3491999" y="2088000"/>
            <a:ext cx="2448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3B5E47"/>
                </a:solidFill>
              </a:defRPr>
            </a:pPr>
            <a:r>
              <a:t>移动端H5网页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91999" y="2448000"/>
            <a:ext cx="2448000" cy="234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6A7568"/>
                </a:solidFill>
              </a:defRPr>
            </a:pPr>
            <a:r>
              <a:t>10个功能页面</a:t>
            </a:r>
            <a:br/>
            <a:r>
              <a:t>房型展示 . 在线点单</a:t>
            </a:r>
            <a:br/>
            <a:r>
              <a:t>游玩攻略 . 积分中心</a:t>
            </a:r>
            <a:br/>
            <a:r>
              <a:t>嵌入公众号底部菜单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999" y="1620000"/>
            <a:ext cx="2736000" cy="32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999" y="1620000"/>
            <a:ext cx="2736000" cy="2160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7999" y="1692000"/>
            <a:ext cx="2448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4A7C59"/>
                </a:solidFill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6407999" y="2088000"/>
            <a:ext cx="2448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3B5E47"/>
                </a:solidFill>
              </a:defRPr>
            </a:pPr>
            <a:r>
              <a:t>积分会员体系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7999" y="2448000"/>
            <a:ext cx="2448000" cy="234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6A7568"/>
                </a:solidFill>
              </a:defRPr>
            </a:pPr>
            <a:r>
              <a:t>积分获取/兑换/等级</a:t>
            </a:r>
            <a:br/>
            <a:r>
              <a:t>激励好评和回头</a:t>
            </a:r>
            <a:br/>
            <a:r>
              <a:t>银卡/金卡/钻石卡</a:t>
            </a:r>
            <a:br/>
            <a:r>
              <a:t>生日月x1.5倍加成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79999" y="1620000"/>
            <a:ext cx="2736000" cy="32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79999" y="1620000"/>
            <a:ext cx="2736000" cy="21600"/>
          </a:xfrm>
          <a:prstGeom prst="rect">
            <a:avLst/>
          </a:prstGeom>
          <a:solidFill>
            <a:srgbClr val="C89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23999" y="1692000"/>
            <a:ext cx="2448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C8966A"/>
                </a:solidFill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9323999" y="2088000"/>
            <a:ext cx="2448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3B5E47"/>
                </a:solidFill>
              </a:defRPr>
            </a:pPr>
            <a:r>
              <a:t>运营管理后台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3999" y="2448000"/>
            <a:ext cx="2448000" cy="234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6A7568"/>
                </a:solidFill>
              </a:defRPr>
            </a:pPr>
            <a:r>
              <a:t>多平台订单聚合看板</a:t>
            </a:r>
            <a:br/>
            <a:r>
              <a:t>服务请求追踪系统</a:t>
            </a:r>
            <a:br/>
            <a:r>
              <a:t>经营数据可视化</a:t>
            </a:r>
            <a:br/>
            <a:r>
              <a:t>每周自动生成经营报告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0000" y="5220000"/>
            <a:ext cx="1080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4A7C59"/>
                </a:solidFill>
              </a:defRPr>
            </a:pPr>
            <a:r>
              <a:t>系统建成后，云上归墅将具备庐山民宿中领先的智能化线上服务能力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0000" y="5760000"/>
            <a:ext cx="10800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9AA598"/>
                </a:solidFill>
              </a:defRPr>
            </a:pPr>
            <a:r>
              <a:t>注：本项目当前处于规划阶段，将根据民宿方需求分步实施、持续迭代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440000" y="6552000"/>
            <a:ext cx="1440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800" b="0">
                <a:solidFill>
                  <a:srgbClr val="9AA598"/>
                </a:solidFill>
              </a:defRPr>
            </a:pPr>
            <a:r>
              <a:t>2/14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3420000"/>
          </a:xfrm>
          <a:prstGeom prst="rect">
            <a:avLst/>
          </a:prstGeom>
          <a:solidFill>
            <a:srgbClr val="3B5E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420000"/>
            <a:ext cx="12192119" cy="343800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288000"/>
            <a:ext cx="1080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AI 智能管家 -- 系统核心亮点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792000"/>
            <a:ext cx="1080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CCDCD0"/>
                </a:solidFill>
              </a:defRPr>
            </a:pPr>
            <a:r>
              <a:t>能够感知客人所处阶段，自动切换服务身份。全天候在线，同时服务所有住客。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40000" y="1620000"/>
            <a:ext cx="3600000" cy="3240000"/>
          </a:xfrm>
          <a:prstGeom prst="rect">
            <a:avLst/>
          </a:prstGeom>
          <a:solidFill>
            <a:srgbClr val="2A4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0000" y="1728000"/>
            <a:ext cx="324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DBB88A"/>
                </a:solidFill>
              </a:defRPr>
            </a:pPr>
            <a:r>
              <a:t>阶段一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0000" y="2088000"/>
            <a:ext cx="324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预订前：免费旅行顾问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2592000"/>
            <a:ext cx="3240000" cy="198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0">
                <a:solidFill>
                  <a:srgbClr val="EEF4EC"/>
                </a:solidFill>
              </a:defRPr>
            </a:pPr>
            <a:r>
              <a:t>面向所有公众号关注者</a:t>
            </a:r>
            <a:br/>
            <a:r>
              <a:t>解答庐山旅游咨询</a:t>
            </a:r>
            <a:br/>
            <a:r>
              <a:t>自然融入民宿特色介绍</a:t>
            </a:r>
            <a:br/>
            <a:r>
              <a:t>引导用户至OTA预订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28000" y="1620000"/>
            <a:ext cx="3600000" cy="3240000"/>
          </a:xfrm>
          <a:prstGeom prst="rect">
            <a:avLst/>
          </a:prstGeom>
          <a:solidFill>
            <a:srgbClr val="3A5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08000" y="1728000"/>
            <a:ext cx="324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DBB88A"/>
                </a:solidFill>
              </a:defRPr>
            </a:pPr>
            <a:r>
              <a:t>阶段二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08000" y="2088000"/>
            <a:ext cx="324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预订后：专属AI管家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08000" y="2592000"/>
            <a:ext cx="3240000" cy="198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0">
                <a:solidFill>
                  <a:srgbClr val="EEF4EC"/>
                </a:solidFill>
              </a:defRPr>
            </a:pPr>
            <a:r>
              <a:t>预订客人确认后解锁</a:t>
            </a:r>
            <a:br/>
            <a:r>
              <a:t>记住姓名和入住信息</a:t>
            </a:r>
            <a:br/>
            <a:r>
              <a:t>快捷服务一键呼叫</a:t>
            </a:r>
            <a:br/>
            <a:r>
              <a:t>个性化贴心一对一服务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16000" y="1620000"/>
            <a:ext cx="3600000" cy="3240000"/>
          </a:xfrm>
          <a:prstGeom prst="rect">
            <a:avLst/>
          </a:prstGeom>
          <a:solidFill>
            <a:srgbClr val="4A6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96000" y="1728000"/>
            <a:ext cx="324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DBB88A"/>
                </a:solidFill>
              </a:defRPr>
            </a:pPr>
            <a:r>
              <a:t>阶段三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96000" y="2088000"/>
            <a:ext cx="324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离店后：复购关怀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96000" y="2592000"/>
            <a:ext cx="3240000" cy="198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0">
                <a:solidFill>
                  <a:srgbClr val="EEF4EC"/>
                </a:solidFill>
              </a:defRPr>
            </a:pPr>
            <a:r>
              <a:t>自动好评提醒推送</a:t>
            </a:r>
            <a:br/>
            <a:r>
              <a:t>积分累计+会员等级通知</a:t>
            </a:r>
            <a:br/>
            <a:r>
              <a:t>会员回住折扣激励</a:t>
            </a:r>
            <a:br/>
            <a:r>
              <a:t>温暖持续的品牌连接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0000" y="5328000"/>
            <a:ext cx="1080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一位 AI 管家 = 全年无休的前台 + 旅行顾问 + 售后客服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40000" y="6552000"/>
            <a:ext cx="1440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800" b="0">
                <a:solidFill>
                  <a:srgbClr val="9AA598"/>
                </a:solidFill>
              </a:defRPr>
            </a:pPr>
            <a:r>
              <a:t>3/14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288000"/>
            <a:ext cx="10800000" cy="54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600" b="1">
                <a:solidFill>
                  <a:srgbClr val="3B5E47"/>
                </a:solidFill>
              </a:defRPr>
            </a:pPr>
            <a:r>
              <a:t>房型展示 -- 8种精品房型在线呈现</a:t>
            </a:r>
          </a:p>
        </p:txBody>
      </p:sp>
      <p:sp>
        <p:nvSpPr>
          <p:cNvPr id="3" name="Rectangle 2"/>
          <p:cNvSpPr/>
          <p:nvPr/>
        </p:nvSpPr>
        <p:spPr>
          <a:xfrm>
            <a:off x="1080000" y="900000"/>
            <a:ext cx="10032120" cy="10800"/>
          </a:xfrm>
          <a:prstGeom prst="rect">
            <a:avLst/>
          </a:prstGeom>
          <a:solidFill>
            <a:srgbClr val="C89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32000" y="1440000"/>
            <a:ext cx="2700000" cy="18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32000" y="1440000"/>
            <a:ext cx="2700000" cy="2160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6000" y="1548000"/>
            <a:ext cx="2412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3B5E47"/>
                </a:solidFill>
              </a:defRPr>
            </a:pPr>
            <a:r>
              <a:t>特惠单人间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00" y="1872000"/>
            <a:ext cx="2412000" cy="251999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C8966A"/>
                </a:solidFill>
              </a:defRPr>
            </a:pPr>
            <a:r>
              <a:t>每晚 388 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2268000"/>
            <a:ext cx="1080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A7568"/>
                </a:solidFill>
              </a:defRPr>
            </a:pPr>
            <a:r>
              <a:t>住 1人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2000" y="2268000"/>
            <a:ext cx="1332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A7568"/>
                </a:solidFill>
              </a:defRPr>
            </a:pPr>
            <a:r>
              <a:t>床 1.5m床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00" y="2520000"/>
            <a:ext cx="1260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A7568"/>
                </a:solidFill>
              </a:defRPr>
            </a:pPr>
            <a:r>
              <a:t>面积 15m2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00" y="2736000"/>
            <a:ext cx="2412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9AA598"/>
                </a:solidFill>
              </a:defRPr>
            </a:pPr>
            <a:r>
              <a:t>小而精致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47999" y="1440000"/>
            <a:ext cx="2700000" cy="18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47999" y="1440000"/>
            <a:ext cx="2700000" cy="2160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91999" y="1548000"/>
            <a:ext cx="2412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3B5E47"/>
                </a:solidFill>
              </a:defRPr>
            </a:pPr>
            <a:r>
              <a:t>特惠标准间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91999" y="1872000"/>
            <a:ext cx="2412000" cy="251999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C8966A"/>
                </a:solidFill>
              </a:defRPr>
            </a:pPr>
            <a:r>
              <a:t>每晚 388 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91999" y="2268000"/>
            <a:ext cx="1080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A7568"/>
                </a:solidFill>
              </a:defRPr>
            </a:pPr>
            <a:r>
              <a:t>住 2人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08000" y="2268000"/>
            <a:ext cx="1332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A7568"/>
                </a:solidFill>
              </a:defRPr>
            </a:pPr>
            <a:r>
              <a:t>床 2张1.2m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91999" y="2520000"/>
            <a:ext cx="1260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A7568"/>
                </a:solidFill>
              </a:defRPr>
            </a:pPr>
            <a:r>
              <a:t>面积 15m2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91999" y="2736000"/>
            <a:ext cx="2412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9AA598"/>
                </a:solidFill>
              </a:defRPr>
            </a:pPr>
            <a:r>
              <a:t>闺蜜出游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63999" y="1440000"/>
            <a:ext cx="2700000" cy="18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63999" y="1440000"/>
            <a:ext cx="2700000" cy="2160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7999" y="1548000"/>
            <a:ext cx="2412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3B5E47"/>
                </a:solidFill>
              </a:defRPr>
            </a:pPr>
            <a:r>
              <a:t>知还标准间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7999" y="1872000"/>
            <a:ext cx="2412000" cy="251999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C8966A"/>
                </a:solidFill>
              </a:defRPr>
            </a:pPr>
            <a:r>
              <a:t>每晚 488 元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7999" y="2268000"/>
            <a:ext cx="1080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A7568"/>
                </a:solidFill>
              </a:defRPr>
            </a:pPr>
            <a:r>
              <a:t>住 2人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23999" y="2268000"/>
            <a:ext cx="1332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A7568"/>
                </a:solidFill>
              </a:defRPr>
            </a:pPr>
            <a:r>
              <a:t>床 2张1.2m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7999" y="2520000"/>
            <a:ext cx="1260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A7568"/>
                </a:solidFill>
              </a:defRPr>
            </a:pPr>
            <a:r>
              <a:t>面积 20m2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7999" y="2736000"/>
            <a:ext cx="2412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9AA598"/>
                </a:solidFill>
              </a:defRPr>
            </a:pPr>
            <a:r>
              <a:t>以诗句命名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179999" y="1440000"/>
            <a:ext cx="2700000" cy="18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179999" y="1440000"/>
            <a:ext cx="2700000" cy="2160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23999" y="1548000"/>
            <a:ext cx="2412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3B5E47"/>
                </a:solidFill>
              </a:defRPr>
            </a:pPr>
            <a:r>
              <a:t>山野大床房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3999" y="1872000"/>
            <a:ext cx="2412000" cy="251999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C8966A"/>
                </a:solidFill>
              </a:defRPr>
            </a:pPr>
            <a:r>
              <a:t>每晚 588 元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23999" y="2268000"/>
            <a:ext cx="1080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A7568"/>
                </a:solidFill>
              </a:defRPr>
            </a:pPr>
            <a:r>
              <a:t>住 2人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439999" y="2268000"/>
            <a:ext cx="1332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A7568"/>
                </a:solidFill>
              </a:defRPr>
            </a:pPr>
            <a:r>
              <a:t>床 1.8m大床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23999" y="2520000"/>
            <a:ext cx="1260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A7568"/>
                </a:solidFill>
              </a:defRPr>
            </a:pPr>
            <a:r>
              <a:t>面积 20m2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23999" y="2736000"/>
            <a:ext cx="2412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9AA598"/>
                </a:solidFill>
              </a:defRPr>
            </a:pPr>
            <a:r>
              <a:t>原木风格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32000" y="3528000"/>
            <a:ext cx="2700000" cy="18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32000" y="3528000"/>
            <a:ext cx="2700000" cy="21600"/>
          </a:xfrm>
          <a:prstGeom prst="rect">
            <a:avLst/>
          </a:prstGeom>
          <a:solidFill>
            <a:srgbClr val="C89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76000" y="3636000"/>
            <a:ext cx="2412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3B5E47"/>
                </a:solidFill>
              </a:defRPr>
            </a:pPr>
            <a:r>
              <a:t>山景.精致大床房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76000" y="3960000"/>
            <a:ext cx="2412000" cy="251999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C8966A"/>
                </a:solidFill>
              </a:defRPr>
            </a:pPr>
            <a:r>
              <a:t>每晚 688 元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76000" y="4356000"/>
            <a:ext cx="1080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A7568"/>
                </a:solidFill>
              </a:defRPr>
            </a:pPr>
            <a:r>
              <a:t>住 2人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692000" y="4356000"/>
            <a:ext cx="1332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A7568"/>
                </a:solidFill>
              </a:defRPr>
            </a:pPr>
            <a:r>
              <a:t>床 1.8m大床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76000" y="4608000"/>
            <a:ext cx="1260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A7568"/>
                </a:solidFill>
              </a:defRPr>
            </a:pPr>
            <a:r>
              <a:t>面积 30m2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76000" y="4824000"/>
            <a:ext cx="2412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9AA598"/>
                </a:solidFill>
              </a:defRPr>
            </a:pPr>
            <a:r>
              <a:t>全景窗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347999" y="3528000"/>
            <a:ext cx="2700000" cy="18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347999" y="3528000"/>
            <a:ext cx="2700000" cy="21600"/>
          </a:xfrm>
          <a:prstGeom prst="rect">
            <a:avLst/>
          </a:prstGeom>
          <a:solidFill>
            <a:srgbClr val="C89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491999" y="3636000"/>
            <a:ext cx="2412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3B5E47"/>
                </a:solidFill>
              </a:defRPr>
            </a:pPr>
            <a:r>
              <a:t>清舍.露台大床房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491999" y="3960000"/>
            <a:ext cx="2412000" cy="251999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C8966A"/>
                </a:solidFill>
              </a:defRPr>
            </a:pPr>
            <a:r>
              <a:t>每晚 788 元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491999" y="4356000"/>
            <a:ext cx="1080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A7568"/>
                </a:solidFill>
              </a:defRPr>
            </a:pPr>
            <a:r>
              <a:t>住 2人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608000" y="4356000"/>
            <a:ext cx="1332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A7568"/>
                </a:solidFill>
              </a:defRPr>
            </a:pPr>
            <a:r>
              <a:t>床 1.8m大床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491999" y="4608000"/>
            <a:ext cx="1260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A7568"/>
                </a:solidFill>
              </a:defRPr>
            </a:pPr>
            <a:r>
              <a:t>面积 35m2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491999" y="4824000"/>
            <a:ext cx="2412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9AA598"/>
                </a:solidFill>
              </a:defRPr>
            </a:pPr>
            <a:r>
              <a:t>独立露台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263999" y="3528000"/>
            <a:ext cx="2700000" cy="18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263999" y="3528000"/>
            <a:ext cx="2700000" cy="21600"/>
          </a:xfrm>
          <a:prstGeom prst="rect">
            <a:avLst/>
          </a:prstGeom>
          <a:solidFill>
            <a:srgbClr val="C89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07999" y="3636000"/>
            <a:ext cx="2412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3B5E47"/>
                </a:solidFill>
              </a:defRPr>
            </a:pPr>
            <a:r>
              <a:t>田园家庭房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07999" y="3960000"/>
            <a:ext cx="2412000" cy="251999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C8966A"/>
                </a:solidFill>
              </a:defRPr>
            </a:pPr>
            <a:r>
              <a:t>每晚 788 元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07999" y="4356000"/>
            <a:ext cx="1080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A7568"/>
                </a:solidFill>
              </a:defRPr>
            </a:pPr>
            <a:r>
              <a:t>住 3人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523999" y="4356000"/>
            <a:ext cx="1332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A7568"/>
                </a:solidFill>
              </a:defRPr>
            </a:pPr>
            <a:r>
              <a:t>床 1.8+1.2m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07999" y="4608000"/>
            <a:ext cx="1260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A7568"/>
                </a:solidFill>
              </a:defRPr>
            </a:pPr>
            <a:r>
              <a:t>面积 20m2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07999" y="4824000"/>
            <a:ext cx="2412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9AA598"/>
                </a:solidFill>
              </a:defRPr>
            </a:pPr>
            <a:r>
              <a:t>三口之家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179999" y="3528000"/>
            <a:ext cx="2700000" cy="18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9179999" y="3528000"/>
            <a:ext cx="2700000" cy="21600"/>
          </a:xfrm>
          <a:prstGeom prst="rect">
            <a:avLst/>
          </a:prstGeom>
          <a:solidFill>
            <a:srgbClr val="C89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323999" y="3636000"/>
            <a:ext cx="2412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3B5E47"/>
                </a:solidFill>
              </a:defRPr>
            </a:pPr>
            <a:r>
              <a:t>室雅茶香套房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323999" y="3960000"/>
            <a:ext cx="2412000" cy="251999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C8966A"/>
                </a:solidFill>
              </a:defRPr>
            </a:pPr>
            <a:r>
              <a:t>每晚 988 元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323999" y="4356000"/>
            <a:ext cx="1080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A7568"/>
                </a:solidFill>
              </a:defRPr>
            </a:pPr>
            <a:r>
              <a:t>住 4人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439999" y="4356000"/>
            <a:ext cx="1332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A7568"/>
                </a:solidFill>
              </a:defRPr>
            </a:pPr>
            <a:r>
              <a:t>床 1.8+1.5m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323999" y="4608000"/>
            <a:ext cx="1260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A7568"/>
                </a:solidFill>
              </a:defRPr>
            </a:pPr>
            <a:r>
              <a:t>面积 30m2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323999" y="4824000"/>
            <a:ext cx="2412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9AA598"/>
                </a:solidFill>
              </a:defRPr>
            </a:pPr>
            <a:r>
              <a:t>独立茶室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20000" y="5940000"/>
            <a:ext cx="10800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9AA598"/>
                </a:solidFill>
              </a:defRPr>
            </a:pPr>
            <a:r>
              <a:t>配备：地暖 . 智能马桶 . 高速WiFi . 茶具套装 . 迷你吧  |  宠物友好  |  免费停车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440000" y="6552000"/>
            <a:ext cx="1440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800" b="0">
                <a:solidFill>
                  <a:srgbClr val="9AA598"/>
                </a:solidFill>
              </a:defRPr>
            </a:pPr>
            <a:r>
              <a:t>4/14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288000"/>
            <a:ext cx="10800000" cy="54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600" b="1">
                <a:solidFill>
                  <a:srgbClr val="3B5E47"/>
                </a:solidFill>
              </a:defRPr>
            </a:pPr>
            <a:r>
              <a:t>三山二水咖啡 -- 在线点单系统</a:t>
            </a:r>
          </a:p>
        </p:txBody>
      </p:sp>
      <p:sp>
        <p:nvSpPr>
          <p:cNvPr id="3" name="Rectangle 2"/>
          <p:cNvSpPr/>
          <p:nvPr/>
        </p:nvSpPr>
        <p:spPr>
          <a:xfrm>
            <a:off x="1080000" y="900000"/>
            <a:ext cx="10032120" cy="10800"/>
          </a:xfrm>
          <a:prstGeom prst="rect">
            <a:avLst/>
          </a:prstGeom>
          <a:solidFill>
            <a:srgbClr val="C89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0000" y="1620000"/>
            <a:ext cx="5400000" cy="45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0000" y="1728000"/>
            <a:ext cx="5040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3B5E47"/>
                </a:solidFill>
              </a:defRPr>
            </a:pPr>
            <a:r>
              <a:t>菜单总览 (4大品类 19款产品)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24000"/>
            <a:ext cx="5040000" cy="18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3B5E47"/>
                </a:solidFill>
              </a:defRPr>
            </a:pPr>
            <a:r>
              <a:t>咖啡+茶饮 (12款)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340000"/>
            <a:ext cx="504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A7568"/>
                </a:solidFill>
              </a:defRPr>
            </a:pPr>
            <a:r>
              <a:t>美式 . 拿铁 . Dirty . 椰青美式 . 生椰拿铁</a:t>
            </a:r>
            <a:br/>
            <a:r>
              <a:t>燕麦拿铁 . 奥利奥拿铁 . 摩卡 . 抹茶拿铁</a:t>
            </a:r>
            <a:br/>
            <a:r>
              <a:t>椰子水 . 可可奶 . 庐山云雾茶(红/绿)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0000" y="2951999"/>
            <a:ext cx="5040000" cy="18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3B5E47"/>
                </a:solidFill>
              </a:defRPr>
            </a:pPr>
            <a:r>
              <a:t>简餐 (4款)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3167999"/>
            <a:ext cx="504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A7568"/>
                </a:solidFill>
              </a:defRPr>
            </a:pPr>
            <a:r>
              <a:t>意面 . 小吃拼盘 . 奥尔良鸡肉披萨 . 榴莲美式披萨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0000" y="3780000"/>
            <a:ext cx="5040000" cy="18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3B5E47"/>
                </a:solidFill>
              </a:defRPr>
            </a:pPr>
            <a:r>
              <a:t>甜品 (2款)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0000" y="3996000"/>
            <a:ext cx="504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A7568"/>
                </a:solidFill>
              </a:defRPr>
            </a:pPr>
            <a:r>
              <a:t>提拉米苏 . 豆乳蛋糕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0000" y="4608000"/>
            <a:ext cx="5040000" cy="18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3B5E47"/>
                </a:solidFill>
              </a:defRPr>
            </a:pPr>
            <a:r>
              <a:t>特调饮品 (1款)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0000" y="4824000"/>
            <a:ext cx="504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A7568"/>
                </a:solidFill>
              </a:defRPr>
            </a:pPr>
            <a:r>
              <a:t>[没事的] -- 主理人特调，喝一杯，什么事都没有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0000" y="1620000"/>
            <a:ext cx="5400000" cy="45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0000" y="1728000"/>
            <a:ext cx="5040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3B5E47"/>
                </a:solidFill>
              </a:defRPr>
            </a:pPr>
            <a:r>
              <a:t>饮品定制功能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80000" y="2124000"/>
            <a:ext cx="5040000" cy="18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3B5E47"/>
                </a:solidFill>
              </a:defRPr>
            </a:pPr>
            <a:r>
              <a:t>庐山云雾茶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80000" y="2340000"/>
            <a:ext cx="504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A7568"/>
                </a:solidFill>
              </a:defRPr>
            </a:pPr>
            <a:r>
              <a:t>红茶 / 绿茶可选</a:t>
            </a:r>
            <a:br/>
            <a:r>
              <a:t>杯 38元 / 壶 98元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80000" y="2951999"/>
            <a:ext cx="5040000" cy="18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3B5E47"/>
                </a:solidFill>
              </a:defRPr>
            </a:pPr>
            <a:r>
              <a:t>糖度选择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80000" y="3167999"/>
            <a:ext cx="504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A7568"/>
                </a:solidFill>
              </a:defRPr>
            </a:pPr>
            <a:r>
              <a:t>全糖 / 半糖 / 不额外加糖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80000" y="3780000"/>
            <a:ext cx="5040000" cy="18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3B5E47"/>
                </a:solidFill>
              </a:defRPr>
            </a:pPr>
            <a:r>
              <a:t>冰量/温度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80000" y="3996000"/>
            <a:ext cx="504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A7568"/>
                </a:solidFill>
              </a:defRPr>
            </a:pPr>
            <a:r>
              <a:t>正常冰 / 少冰 / 温 / 不额外加冰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80000" y="4608000"/>
            <a:ext cx="5040000" cy="18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3B5E47"/>
                </a:solidFill>
              </a:defRPr>
            </a:pPr>
            <a:r>
              <a:t>支付方式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80000" y="4824000"/>
            <a:ext cx="504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A7568"/>
                </a:solidFill>
              </a:defRPr>
            </a:pPr>
            <a:r>
              <a:t>微信支付在线付款</a:t>
            </a:r>
            <a:br/>
            <a:r>
              <a:t>下单后送餐到房间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0000" y="6228000"/>
            <a:ext cx="5400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C8966A"/>
                </a:solidFill>
              </a:defRPr>
            </a:pPr>
            <a:r>
              <a:t>拓展民宿非房费收入 . 住客无需下楼 . 微信支付闭环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40000" y="6552000"/>
            <a:ext cx="1440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800" b="0">
                <a:solidFill>
                  <a:srgbClr val="9AA598"/>
                </a:solidFill>
              </a:defRPr>
            </a:pPr>
            <a:r>
              <a:t>5/14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288000"/>
            <a:ext cx="10800000" cy="54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600" b="1">
                <a:solidFill>
                  <a:srgbClr val="3B5E47"/>
                </a:solidFill>
              </a:defRPr>
            </a:pPr>
            <a:r>
              <a:t>游玩攻略 + 美食探店</a:t>
            </a:r>
          </a:p>
        </p:txBody>
      </p:sp>
      <p:sp>
        <p:nvSpPr>
          <p:cNvPr id="3" name="Rectangle 2"/>
          <p:cNvSpPr/>
          <p:nvPr/>
        </p:nvSpPr>
        <p:spPr>
          <a:xfrm>
            <a:off x="1080000" y="900000"/>
            <a:ext cx="10032120" cy="10800"/>
          </a:xfrm>
          <a:prstGeom prst="rect">
            <a:avLst/>
          </a:prstGeom>
          <a:solidFill>
            <a:srgbClr val="C89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0000" y="1440000"/>
            <a:ext cx="5400000" cy="486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0000" y="1548000"/>
            <a:ext cx="5040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3B5E47"/>
                </a:solidFill>
              </a:defRPr>
            </a:pPr>
            <a:r>
              <a:t>5条庐山深度路线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908000"/>
            <a:ext cx="5040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3B5E47"/>
                </a:solidFill>
              </a:defRPr>
            </a:pPr>
            <a:r>
              <a:t>一日精华线 (轻松)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160000"/>
            <a:ext cx="5040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A7568"/>
                </a:solidFill>
              </a:defRPr>
            </a:pPr>
            <a:r>
              <a:t>西线自然+中线人文，约6-7小时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0000" y="2556000"/>
            <a:ext cx="5040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3B5E47"/>
                </a:solidFill>
              </a:defRPr>
            </a:pPr>
            <a:r>
              <a:t>两日全景深度 (适中)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2808000"/>
            <a:ext cx="5040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A7568"/>
                </a:solidFill>
              </a:defRPr>
            </a:pPr>
            <a:r>
              <a:t>最受推荐！含鄱口+五老峰+三叠泉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0000" y="3204000"/>
            <a:ext cx="5040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3B5E47"/>
                </a:solidFill>
              </a:defRPr>
            </a:pPr>
            <a:r>
              <a:t>人文寻踪之旅 (轻松)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0000" y="3456000"/>
            <a:ext cx="5040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A7568"/>
                </a:solidFill>
              </a:defRPr>
            </a:pPr>
            <a:r>
              <a:t>白鹿洞书院-东林寺-美庐-博物馆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0000" y="3851999"/>
            <a:ext cx="5040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3B5E47"/>
                </a:solidFill>
              </a:defRPr>
            </a:pPr>
            <a:r>
              <a:t>好汉坡穿越线 (挑战)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0000" y="4104000"/>
            <a:ext cx="5040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A7568"/>
                </a:solidFill>
              </a:defRPr>
            </a:pPr>
            <a:r>
              <a:t>15km徒步登顶，户外玩家专属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0000" y="4500000"/>
            <a:ext cx="5040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3B5E47"/>
                </a:solidFill>
              </a:defRPr>
            </a:pPr>
            <a:r>
              <a:t>牯岭镇半日闲 (轻松)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0000" y="4752000"/>
            <a:ext cx="5040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A7568"/>
                </a:solidFill>
              </a:defRPr>
            </a:pPr>
            <a:r>
              <a:t>如琴湖-花径-正街-小天池日落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0000" y="1440000"/>
            <a:ext cx="5400000" cy="486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80000" y="1548000"/>
            <a:ext cx="5040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3B5E47"/>
                </a:solidFill>
              </a:defRPr>
            </a:pPr>
            <a:r>
              <a:t>8家周边美食推荐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80000" y="1908000"/>
            <a:ext cx="5040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2A3328"/>
                </a:solidFill>
              </a:defRPr>
            </a:pPr>
            <a:r>
              <a:t>石牛酒家 . 苍蝇馆子 . 人均55-75元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80000" y="2340000"/>
            <a:ext cx="5040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2A3328"/>
                </a:solidFill>
              </a:defRPr>
            </a:pPr>
            <a:r>
              <a:t>847别墅餐厅 . 百年别墅 . 人均60-70元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80000" y="2771999"/>
            <a:ext cx="5040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2A3328"/>
                </a:solidFill>
              </a:defRPr>
            </a:pPr>
            <a:r>
              <a:t>望庐说 . 网红餐厅 . 人均80-100元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80000" y="3203999"/>
            <a:ext cx="5040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2A3328"/>
                </a:solidFill>
              </a:defRPr>
            </a:pPr>
            <a:r>
              <a:t>庐人村 . 山景餐厅 . 人均80-100元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80000" y="3636000"/>
            <a:ext cx="5040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2A3328"/>
                </a:solidFill>
              </a:defRPr>
            </a:pPr>
            <a:r>
              <a:t>利民煨汤馆 . 大众9186评 . 人均26-45元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80000" y="4068000"/>
            <a:ext cx="5040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2A3328"/>
                </a:solidFill>
              </a:defRPr>
            </a:pPr>
            <a:r>
              <a:t>庐山茶饼 . 伴手礼 . 约10元/盒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80000" y="4500000"/>
            <a:ext cx="5040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2A3328"/>
                </a:solidFill>
              </a:defRPr>
            </a:pPr>
            <a:r>
              <a:t>庐小仙 . 史努比联名杯 . 人均18-28元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80000" y="4932000"/>
            <a:ext cx="5040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2A3328"/>
                </a:solidFill>
              </a:defRPr>
            </a:pPr>
            <a:r>
              <a:t>见山茶 . 网红打卡 . 人均18-32元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0000" y="6120000"/>
            <a:ext cx="5400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9AA598"/>
                </a:solidFill>
              </a:defRPr>
            </a:pPr>
            <a:r>
              <a:t>数据来源：小红书/大众点评/携程真实探店笔记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440000" y="6552000"/>
            <a:ext cx="1440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800" b="0">
                <a:solidFill>
                  <a:srgbClr val="9AA598"/>
                </a:solidFill>
              </a:defRPr>
            </a:pPr>
            <a:r>
              <a:t>6/14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288000"/>
            <a:ext cx="10800000" cy="54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600" b="1">
                <a:solidFill>
                  <a:srgbClr val="3B5E47"/>
                </a:solidFill>
              </a:defRPr>
            </a:pPr>
            <a:r>
              <a:t>快捷服务 + 积分会员</a:t>
            </a:r>
          </a:p>
        </p:txBody>
      </p:sp>
      <p:sp>
        <p:nvSpPr>
          <p:cNvPr id="3" name="Rectangle 2"/>
          <p:cNvSpPr/>
          <p:nvPr/>
        </p:nvSpPr>
        <p:spPr>
          <a:xfrm>
            <a:off x="1080000" y="900000"/>
            <a:ext cx="10032120" cy="10800"/>
          </a:xfrm>
          <a:prstGeom prst="rect">
            <a:avLst/>
          </a:prstGeom>
          <a:solidFill>
            <a:srgbClr val="C89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0000" y="1440000"/>
            <a:ext cx="5400000" cy="486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0000" y="1548000"/>
            <a:ext cx="5040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3B5E47"/>
                </a:solidFill>
              </a:defRPr>
            </a:pPr>
            <a:r>
              <a:t>21项快捷服务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908000"/>
            <a:ext cx="5040000" cy="18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3B5E47"/>
                </a:solidFill>
              </a:defRPr>
            </a:pPr>
            <a:r>
              <a:t>客房服务 (5项)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124000"/>
            <a:ext cx="5040000" cy="54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A7568"/>
                </a:solidFill>
              </a:defRPr>
            </a:pPr>
            <a:r>
              <a:t>续住 . 打扫 . 补充用品 . 送餐 . 洗衣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0000" y="2916000"/>
            <a:ext cx="5040000" cy="18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3B5E47"/>
                </a:solidFill>
              </a:defRPr>
            </a:pPr>
            <a:r>
              <a:t>前台服务 (13项)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3131999"/>
            <a:ext cx="5040000" cy="54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A7568"/>
                </a:solidFill>
              </a:defRPr>
            </a:pPr>
            <a:r>
              <a:t>行李寄存 . 旅游咨询 . 旅拍 . 路线规划</a:t>
            </a:r>
            <a:br/>
            <a:r>
              <a:t>叫车 . 叫醒 . 搭伙用餐 . 退房办理</a:t>
            </a:r>
            <a:br/>
            <a:r>
              <a:t>登山杖租借 . 雨伞 . 充电宝 . 医药箱 . 特产代购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0000" y="3923999"/>
            <a:ext cx="5040000" cy="18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3B5E47"/>
                </a:solidFill>
              </a:defRPr>
            </a:pPr>
            <a:r>
              <a:t>设施维修 (3项)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0000" y="4139999"/>
            <a:ext cx="5040000" cy="54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A7568"/>
                </a:solidFill>
              </a:defRPr>
            </a:pPr>
            <a:r>
              <a:t>设施报修 . 空调调节 . 热水问题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0000" y="1440000"/>
            <a:ext cx="5400000" cy="486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80000" y="1548000"/>
            <a:ext cx="5040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3B5E47"/>
                </a:solidFill>
              </a:defRPr>
            </a:pPr>
            <a:r>
              <a:t>积分+会员体系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0000" y="1872000"/>
            <a:ext cx="5040000" cy="18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C8966A"/>
                </a:solidFill>
              </a:defRPr>
            </a:pPr>
            <a:r>
              <a:t>-- 如何获取积分 --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80000" y="2088000"/>
            <a:ext cx="5040000" cy="198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2A3328"/>
                </a:solidFill>
              </a:defRPr>
            </a:pPr>
            <a:r>
              <a:t>  . 入住消费：每1元 = 1分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80000" y="2322000"/>
            <a:ext cx="5040000" cy="198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2A3328"/>
                </a:solidFill>
              </a:defRPr>
            </a:pPr>
            <a:r>
              <a:t>  . 每日签到：+1分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80000" y="2556000"/>
            <a:ext cx="5040000" cy="198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2A3328"/>
                </a:solidFill>
              </a:defRPr>
            </a:pPr>
            <a:r>
              <a:t>  . 写OTA评价：+80分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80000" y="2790000"/>
            <a:ext cx="5040000" cy="198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2A3328"/>
                </a:solidFill>
              </a:defRPr>
            </a:pPr>
            <a:r>
              <a:t>  . 邀请好友：+100分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80000" y="3024000"/>
            <a:ext cx="5040000" cy="198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2A3328"/>
                </a:solidFill>
              </a:defRPr>
            </a:pPr>
            <a:r>
              <a:t>  . 生日当月：积分 x1.5倍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80000" y="3348000"/>
            <a:ext cx="5040000" cy="18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C8966A"/>
                </a:solidFill>
              </a:defRPr>
            </a:pPr>
            <a:r>
              <a:t>-- 积分可兑换 --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80000" y="3564000"/>
            <a:ext cx="5040000" cy="198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2A3328"/>
                </a:solidFill>
              </a:defRPr>
            </a:pPr>
            <a:r>
              <a:t>  . 精品咖啡1杯 . 需300分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80000" y="3798000"/>
            <a:ext cx="5040000" cy="198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2A3328"/>
                </a:solidFill>
              </a:defRPr>
            </a:pPr>
            <a:r>
              <a:t>  . 房型免费升级 . 需500分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80000" y="4032000"/>
            <a:ext cx="5040000" cy="198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2A3328"/>
                </a:solidFill>
              </a:defRPr>
            </a:pPr>
            <a:r>
              <a:t>  . 延迟退房至14:00 . 需300分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80000" y="4266000"/>
            <a:ext cx="5040000" cy="198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2A3328"/>
                </a:solidFill>
              </a:defRPr>
            </a:pPr>
            <a:r>
              <a:t>  . 房费抵扣券50元 . 需500分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80000" y="4608000"/>
            <a:ext cx="5040000" cy="18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C8966A"/>
                </a:solidFill>
              </a:defRPr>
            </a:pPr>
            <a:r>
              <a:t>-- 会员等级 --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80000" y="4824000"/>
            <a:ext cx="5040000" cy="198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2A3328"/>
                </a:solidFill>
              </a:defRPr>
            </a:pPr>
            <a:r>
              <a:t>  . 银卡(0分起) -&gt; 95折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80000" y="5058000"/>
            <a:ext cx="5040000" cy="198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2A3328"/>
                </a:solidFill>
              </a:defRPr>
            </a:pPr>
            <a:r>
              <a:t>  . 金卡(累计3000分) -&gt; 92折+延迟退房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80000" y="5292000"/>
            <a:ext cx="5040000" cy="198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2A3328"/>
                </a:solidFill>
              </a:defRPr>
            </a:pPr>
            <a:r>
              <a:t>  . 钻石卡(累计8000分) -&gt; 9折+升级+专属管家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40000" y="6552000"/>
            <a:ext cx="1440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800" b="0">
                <a:solidFill>
                  <a:srgbClr val="9AA598"/>
                </a:solidFill>
              </a:defRPr>
            </a:pPr>
            <a:r>
              <a:t>7/14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288000"/>
            <a:ext cx="10800000" cy="54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600" b="1">
                <a:solidFill>
                  <a:srgbClr val="3B5E47"/>
                </a:solidFill>
              </a:defRPr>
            </a:pPr>
            <a:r>
              <a:t>运营管理后台 -- 数据驱动决策</a:t>
            </a:r>
          </a:p>
        </p:txBody>
      </p:sp>
      <p:sp>
        <p:nvSpPr>
          <p:cNvPr id="3" name="Rectangle 2"/>
          <p:cNvSpPr/>
          <p:nvPr/>
        </p:nvSpPr>
        <p:spPr>
          <a:xfrm>
            <a:off x="1080000" y="900000"/>
            <a:ext cx="10032120" cy="10800"/>
          </a:xfrm>
          <a:prstGeom prst="rect">
            <a:avLst/>
          </a:prstGeom>
          <a:solidFill>
            <a:srgbClr val="C89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32000" y="1512000"/>
            <a:ext cx="2736000" cy="32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6000" y="1620000"/>
            <a:ext cx="2448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3B5E47"/>
                </a:solidFill>
              </a:defRPr>
            </a:pPr>
            <a:r>
              <a:t>多平台订单聚合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00" y="2015999"/>
            <a:ext cx="2448000" cy="180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6A7568"/>
                </a:solidFill>
              </a:defRPr>
            </a:pPr>
            <a:r>
              <a:t>携程/美团/飞猪/大众点评</a:t>
            </a:r>
            <a:br/>
            <a:r>
              <a:t>小红书/抖音/直接预订</a:t>
            </a:r>
            <a:br/>
            <a:r>
              <a:t>7渠道订单统一管理</a:t>
            </a:r>
            <a:br/>
            <a:r>
              <a:t>今日入住.退房.在住实时可见</a:t>
            </a:r>
            <a:br/>
            <a:r>
              <a:t>未来7天到店预测</a:t>
            </a:r>
          </a:p>
        </p:txBody>
      </p:sp>
      <p:sp>
        <p:nvSpPr>
          <p:cNvPr id="7" name="Rectangle 6"/>
          <p:cNvSpPr/>
          <p:nvPr/>
        </p:nvSpPr>
        <p:spPr>
          <a:xfrm>
            <a:off x="576000" y="3888000"/>
            <a:ext cx="2448000" cy="10800"/>
          </a:xfrm>
          <a:prstGeom prst="rect">
            <a:avLst/>
          </a:prstGeom>
          <a:solidFill>
            <a:srgbClr val="C89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00" y="3996000"/>
            <a:ext cx="2448000" cy="503999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C8966A"/>
                </a:solidFill>
              </a:defRPr>
            </a:pPr>
            <a:r>
              <a:t>告别逐个登录</a:t>
            </a:r>
            <a:br/>
            <a:r>
              <a:t>各OTA平台</a:t>
            </a:r>
          </a:p>
        </p:txBody>
      </p:sp>
      <p:sp>
        <p:nvSpPr>
          <p:cNvPr id="9" name="Rectangle 8"/>
          <p:cNvSpPr/>
          <p:nvPr/>
        </p:nvSpPr>
        <p:spPr>
          <a:xfrm>
            <a:off x="3347999" y="1512000"/>
            <a:ext cx="2736000" cy="32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91999" y="1620000"/>
            <a:ext cx="2448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3B5E47"/>
                </a:solidFill>
              </a:defRPr>
            </a:pPr>
            <a:r>
              <a:t>服务请求看板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91999" y="2015999"/>
            <a:ext cx="2448000" cy="180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6A7568"/>
                </a:solidFill>
              </a:defRPr>
            </a:pPr>
            <a:r>
              <a:t>住客发起的每一条服务请求</a:t>
            </a:r>
            <a:br/>
            <a:r>
              <a:t>自动记录.状态追踪</a:t>
            </a:r>
            <a:br/>
            <a:r>
              <a:t>待处理-处理中-已完成</a:t>
            </a:r>
            <a:br/>
            <a:r>
              <a:t>不再遗漏任何需求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91999" y="3888000"/>
            <a:ext cx="2448000" cy="10800"/>
          </a:xfrm>
          <a:prstGeom prst="rect">
            <a:avLst/>
          </a:prstGeom>
          <a:solidFill>
            <a:srgbClr val="C89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91999" y="3996000"/>
            <a:ext cx="2448000" cy="503999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C8966A"/>
                </a:solidFill>
              </a:defRPr>
            </a:pPr>
            <a:r>
              <a:t>告别纸条</a:t>
            </a:r>
            <a:br/>
            <a:r>
              <a:t>和对讲机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999" y="1512000"/>
            <a:ext cx="2736000" cy="32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7999" y="1620000"/>
            <a:ext cx="2448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3B5E47"/>
                </a:solidFill>
              </a:defRPr>
            </a:pPr>
            <a:r>
              <a:t>经营数据看板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7999" y="2015999"/>
            <a:ext cx="2448000" cy="180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6A7568"/>
                </a:solidFill>
              </a:defRPr>
            </a:pPr>
            <a:r>
              <a:t>各平台订单数.收入占比</a:t>
            </a:r>
            <a:br/>
            <a:r>
              <a:t>入住率趋势.月度年度对比</a:t>
            </a:r>
            <a:br/>
            <a:r>
              <a:t>辅助定价和渠道策略</a:t>
            </a:r>
            <a:br/>
            <a:r>
              <a:t>每周自动生成经营报告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7999" y="3888000"/>
            <a:ext cx="2448000" cy="10800"/>
          </a:xfrm>
          <a:prstGeom prst="rect">
            <a:avLst/>
          </a:prstGeom>
          <a:solidFill>
            <a:srgbClr val="C89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7999" y="3996000"/>
            <a:ext cx="2448000" cy="503999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C8966A"/>
                </a:solidFill>
              </a:defRPr>
            </a:pPr>
            <a:r>
              <a:t>用数据决策</a:t>
            </a:r>
            <a:br/>
            <a:r>
              <a:t>不凭感觉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79999" y="1512000"/>
            <a:ext cx="2736000" cy="32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3999" y="1620000"/>
            <a:ext cx="2448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3B5E47"/>
                </a:solidFill>
              </a:defRPr>
            </a:pPr>
            <a:r>
              <a:t>自动化运营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3999" y="2015999"/>
            <a:ext cx="2448000" cy="180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6A7568"/>
                </a:solidFill>
              </a:defRPr>
            </a:pPr>
            <a:r>
              <a:t>退房后定时推送好评提醒</a:t>
            </a:r>
            <a:br/>
            <a:r>
              <a:t>每日口碑自动监控</a:t>
            </a:r>
            <a:br/>
            <a:r>
              <a:t>系统自动完成日常事务</a:t>
            </a:r>
            <a:br/>
            <a:r>
              <a:t>民宿团队只需查看结果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23999" y="3888000"/>
            <a:ext cx="2448000" cy="10800"/>
          </a:xfrm>
          <a:prstGeom prst="rect">
            <a:avLst/>
          </a:prstGeom>
          <a:solidFill>
            <a:srgbClr val="C89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23999" y="3996000"/>
            <a:ext cx="2448000" cy="503999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C8966A"/>
                </a:solidFill>
              </a:defRPr>
            </a:pPr>
            <a:r>
              <a:t>省下时间</a:t>
            </a:r>
            <a:br/>
            <a:r>
              <a:t>专注提升服务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0000" y="5040000"/>
            <a:ext cx="1080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4A7C59"/>
                </a:solidFill>
              </a:defRPr>
            </a:pPr>
            <a:r>
              <a:t>老板在手机上即可查看所有数据，无论身在何处都能掌握运营全貌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40000" y="6552000"/>
            <a:ext cx="1440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800" b="0">
                <a:solidFill>
                  <a:srgbClr val="9AA598"/>
                </a:solidFill>
              </a:defRPr>
            </a:pPr>
            <a:r>
              <a:t>8/14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288000"/>
            <a:ext cx="10800000" cy="54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600" b="1">
                <a:solidFill>
                  <a:srgbClr val="3B5E47"/>
                </a:solidFill>
              </a:defRPr>
            </a:pPr>
            <a:r>
              <a:t>系统页面一览</a:t>
            </a:r>
          </a:p>
        </p:txBody>
      </p:sp>
      <p:sp>
        <p:nvSpPr>
          <p:cNvPr id="3" name="Rectangle 2"/>
          <p:cNvSpPr/>
          <p:nvPr/>
        </p:nvSpPr>
        <p:spPr>
          <a:xfrm>
            <a:off x="1080000" y="900000"/>
            <a:ext cx="10032120" cy="10800"/>
          </a:xfrm>
          <a:prstGeom prst="rect">
            <a:avLst/>
          </a:prstGeom>
          <a:solidFill>
            <a:srgbClr val="C89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32000" y="1152000"/>
            <a:ext cx="2700000" cy="14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6000" y="1260000"/>
            <a:ext cx="2412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3B5E47"/>
                </a:solidFill>
              </a:defRPr>
            </a:pPr>
            <a:r>
              <a:t>首页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00" y="1584000"/>
            <a:ext cx="2412000" cy="792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6A7568"/>
                </a:solidFill>
              </a:defRPr>
            </a:pPr>
            <a:r>
              <a:t>民宿概览.精选房型.AI管家入口</a:t>
            </a:r>
          </a:p>
        </p:txBody>
      </p:sp>
      <p:sp>
        <p:nvSpPr>
          <p:cNvPr id="7" name="Rectangle 6"/>
          <p:cNvSpPr/>
          <p:nvPr/>
        </p:nvSpPr>
        <p:spPr>
          <a:xfrm>
            <a:off x="3347999" y="1152000"/>
            <a:ext cx="2700000" cy="14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91999" y="1260000"/>
            <a:ext cx="2412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3B5E47"/>
                </a:solidFill>
              </a:defRPr>
            </a:pPr>
            <a:r>
              <a:t>房型列表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91999" y="1584000"/>
            <a:ext cx="2412000" cy="792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6A7568"/>
                </a:solidFill>
              </a:defRPr>
            </a:pPr>
            <a:r>
              <a:t>8种房型卡片式展示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999" y="1152000"/>
            <a:ext cx="2700000" cy="14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7999" y="1260000"/>
            <a:ext cx="2412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3B5E47"/>
                </a:solidFill>
              </a:defRPr>
            </a:pPr>
            <a:r>
              <a:t>房型详情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7999" y="1584000"/>
            <a:ext cx="2412000" cy="792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6A7568"/>
                </a:solidFill>
              </a:defRPr>
            </a:pPr>
            <a:r>
              <a:t>多图轮播.设施清单.预订电话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79999" y="1152000"/>
            <a:ext cx="2700000" cy="14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3999" y="1260000"/>
            <a:ext cx="2412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3B5E47"/>
                </a:solidFill>
              </a:defRPr>
            </a:pPr>
            <a:r>
              <a:t>在线点单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3999" y="1584000"/>
            <a:ext cx="2412000" cy="792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6A7568"/>
                </a:solidFill>
              </a:defRPr>
            </a:pPr>
            <a:r>
              <a:t>饮品定制.购物车.微信支付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2000" y="2772000"/>
            <a:ext cx="2700000" cy="14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6000" y="2880000"/>
            <a:ext cx="2412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3B5E47"/>
                </a:solidFill>
              </a:defRPr>
            </a:pPr>
            <a:r>
              <a:t>游玩攻略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00" y="3204000"/>
            <a:ext cx="2412000" cy="792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6A7568"/>
                </a:solidFill>
              </a:defRPr>
            </a:pPr>
            <a:r>
              <a:t>5条路线详情.贴士.导航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47999" y="2772000"/>
            <a:ext cx="2700000" cy="14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91999" y="2880000"/>
            <a:ext cx="2412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3B5E47"/>
                </a:solidFill>
              </a:defRPr>
            </a:pPr>
            <a:r>
              <a:t>美食推荐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91999" y="3204000"/>
            <a:ext cx="2412000" cy="792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6A7568"/>
                </a:solidFill>
              </a:defRPr>
            </a:pPr>
            <a:r>
              <a:t>8家探店攻略.必点菜.导航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63999" y="2772000"/>
            <a:ext cx="2700000" cy="14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7999" y="2880000"/>
            <a:ext cx="2412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3B5E47"/>
                </a:solidFill>
              </a:defRPr>
            </a:pPr>
            <a:r>
              <a:t>快捷服务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7999" y="3204000"/>
            <a:ext cx="2412000" cy="792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6A7568"/>
                </a:solidFill>
              </a:defRPr>
            </a:pPr>
            <a:r>
              <a:t>21项服务卡片.点击即呼叫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79999" y="2772000"/>
            <a:ext cx="2700000" cy="14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3999" y="2880000"/>
            <a:ext cx="2412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3B5E47"/>
                </a:solidFill>
              </a:defRPr>
            </a:pPr>
            <a:r>
              <a:t>地图导航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3999" y="3204000"/>
            <a:ext cx="2412000" cy="792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6A7568"/>
                </a:solidFill>
              </a:defRPr>
            </a:pPr>
            <a:r>
              <a:t>民宿定位.交通指南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2000" y="4392000"/>
            <a:ext cx="2700000" cy="14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76000" y="4500000"/>
            <a:ext cx="2412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3B5E47"/>
                </a:solidFill>
              </a:defRPr>
            </a:pPr>
            <a:r>
              <a:t>积分中心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6000" y="4823999"/>
            <a:ext cx="2412000" cy="792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6A7568"/>
                </a:solidFill>
              </a:defRPr>
            </a:pPr>
            <a:r>
              <a:t>积分余额.等级.兑换商城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347999" y="4392000"/>
            <a:ext cx="2700000" cy="14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491999" y="4500000"/>
            <a:ext cx="2412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3B5E47"/>
                </a:solidFill>
              </a:defRPr>
            </a:pPr>
            <a:r>
              <a:t>订单管理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91999" y="4823999"/>
            <a:ext cx="2412000" cy="792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6A7568"/>
                </a:solidFill>
              </a:defRPr>
            </a:pPr>
            <a:r>
              <a:t>多平台订单统一查看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63999" y="4392000"/>
            <a:ext cx="2700000" cy="14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7999" y="4500000"/>
            <a:ext cx="2412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3B5E47"/>
                </a:solidFill>
              </a:defRPr>
            </a:pPr>
            <a:r>
              <a:t>员工看板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7999" y="4823999"/>
            <a:ext cx="2412000" cy="792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6A7568"/>
                </a:solidFill>
              </a:defRPr>
            </a:pPr>
            <a:r>
              <a:t>实时房态.服务请求.运营数据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179999" y="4392000"/>
            <a:ext cx="2700000" cy="14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323999" y="4500000"/>
            <a:ext cx="2412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3B5E47"/>
                </a:solidFill>
              </a:defRPr>
            </a:pPr>
            <a:r>
              <a:t>深色/浅色模式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23999" y="4823999"/>
            <a:ext cx="2412000" cy="792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6A7568"/>
                </a:solidFill>
              </a:defRPr>
            </a:pPr>
            <a:r>
              <a:t>自动适配.春夏秋冬三季主题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0000" y="6192000"/>
            <a:ext cx="10800000" cy="18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9AA598"/>
                </a:solidFill>
              </a:defRPr>
            </a:pPr>
            <a:r>
              <a:t>注：以上为规划页面，部分页面正在开发中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440000" y="6552000"/>
            <a:ext cx="1440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800" b="0">
                <a:solidFill>
                  <a:srgbClr val="9AA598"/>
                </a:solidFill>
              </a:defRPr>
            </a:pPr>
            <a:r>
              <a:t>9/14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288000"/>
            <a:ext cx="10800000" cy="54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600" b="1">
                <a:solidFill>
                  <a:srgbClr val="3B5E47"/>
                </a:solidFill>
              </a:defRPr>
            </a:pPr>
            <a:r>
              <a:t>微信公众号消息交互 -- 住客使用方式</a:t>
            </a:r>
          </a:p>
        </p:txBody>
      </p:sp>
      <p:sp>
        <p:nvSpPr>
          <p:cNvPr id="3" name="Rectangle 2"/>
          <p:cNvSpPr/>
          <p:nvPr/>
        </p:nvSpPr>
        <p:spPr>
          <a:xfrm>
            <a:off x="1080000" y="900000"/>
            <a:ext cx="10032120" cy="10800"/>
          </a:xfrm>
          <a:prstGeom prst="rect">
            <a:avLst/>
          </a:prstGeom>
          <a:solidFill>
            <a:srgbClr val="C89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1080000"/>
            <a:ext cx="1080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6A7568"/>
                </a:solidFill>
              </a:defRPr>
            </a:pPr>
            <a:r>
              <a:t>住客无需下载任何 App，关注公众号后回复任意消息即可开启服务（系统建成后）。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432000" y="1620000"/>
            <a:ext cx="2160000" cy="18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728000"/>
            <a:ext cx="1944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4A7C59"/>
                </a:solidFill>
              </a:defRPr>
            </a:pPr>
            <a:r>
              <a:t>第1步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0000" y="2088000"/>
            <a:ext cx="1944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3B5E47"/>
                </a:solidFill>
              </a:defRPr>
            </a:pPr>
            <a:r>
              <a:t>关注公众号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2628000"/>
            <a:ext cx="1944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6A7568"/>
                </a:solidFill>
              </a:defRPr>
            </a:pPr>
            <a:r>
              <a:t>微信搜索</a:t>
            </a:r>
            <a:br/>
            <a:r>
              <a:t>云上归墅民宿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04000" y="2340000"/>
            <a:ext cx="468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C8966A"/>
                </a:solidFill>
              </a:defRPr>
            </a:pPr>
            <a:r>
              <a:t>-&gt;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72000" y="1620000"/>
            <a:ext cx="2160000" cy="18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80000" y="1728000"/>
            <a:ext cx="1944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4A7C59"/>
                </a:solidFill>
              </a:defRPr>
            </a:pPr>
            <a:r>
              <a:t>第2步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000" y="2088000"/>
            <a:ext cx="1944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3B5E47"/>
                </a:solidFill>
              </a:defRPr>
            </a:pPr>
            <a:r>
              <a:t>回复关键词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000" y="2628000"/>
            <a:ext cx="1944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6A7568"/>
                </a:solidFill>
              </a:defRPr>
            </a:pPr>
            <a:r>
              <a:t>回复数字 1-5</a:t>
            </a:r>
            <a:br/>
            <a:r>
              <a:t>或中文关键词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44000" y="2340000"/>
            <a:ext cx="468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C8966A"/>
                </a:solidFill>
              </a:defRPr>
            </a:pPr>
            <a:r>
              <a:t>-&gt;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12000" y="1620000"/>
            <a:ext cx="2160000" cy="18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20000" y="1728000"/>
            <a:ext cx="1944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4A7C59"/>
                </a:solidFill>
              </a:defRPr>
            </a:pPr>
            <a:r>
              <a:t>第3步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20000" y="2088000"/>
            <a:ext cx="1944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3B5E47"/>
                </a:solidFill>
              </a:defRPr>
            </a:pPr>
            <a:r>
              <a:t>浏览攻略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20000" y="2628000"/>
            <a:ext cx="1944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6A7568"/>
                </a:solidFill>
              </a:defRPr>
            </a:pPr>
            <a:r>
              <a:t>房型.路线.美食</a:t>
            </a:r>
            <a:br/>
            <a:r>
              <a:t>图文并茂信息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83999" y="2340000"/>
            <a:ext cx="468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C8966A"/>
                </a:solidFill>
              </a:defRPr>
            </a:pPr>
            <a:r>
              <a:t>-&gt;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52000" y="1620000"/>
            <a:ext cx="2160000" cy="18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60000" y="1728000"/>
            <a:ext cx="1944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4A7C59"/>
                </a:solidFill>
              </a:defRPr>
            </a:pPr>
            <a:r>
              <a:t>第4步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60000" y="2088000"/>
            <a:ext cx="1944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3B5E47"/>
                </a:solidFill>
              </a:defRPr>
            </a:pPr>
            <a:r>
              <a:t>OTA预订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60000" y="2628000"/>
            <a:ext cx="1944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6A7568"/>
                </a:solidFill>
              </a:defRPr>
            </a:pPr>
            <a:r>
              <a:t>携程/美团/飞猪</a:t>
            </a:r>
            <a:br/>
            <a:r>
              <a:t>搜索云上归墅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4000" y="2340000"/>
            <a:ext cx="468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C8966A"/>
                </a:solidFill>
              </a:defRPr>
            </a:pPr>
            <a:r>
              <a:t>-&gt;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792000" y="1620000"/>
            <a:ext cx="2160000" cy="18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900000" y="1728000"/>
            <a:ext cx="1944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4A7C59"/>
                </a:solidFill>
              </a:defRPr>
            </a:pPr>
            <a:r>
              <a:t>第5步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00000" y="2088000"/>
            <a:ext cx="1944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3B5E47"/>
                </a:solidFill>
              </a:defRPr>
            </a:pPr>
            <a:r>
              <a:t>入住全服务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00000" y="2628000"/>
            <a:ext cx="1944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6A7568"/>
                </a:solidFill>
              </a:defRPr>
            </a:pPr>
            <a:r>
              <a:t>AI管家.快捷服务</a:t>
            </a:r>
            <a:br/>
            <a:r>
              <a:t>在线点单.积分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0000" y="3780000"/>
            <a:ext cx="10800000" cy="54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4A7C59"/>
                </a:solidFill>
              </a:defRPr>
            </a:pPr>
            <a:r>
              <a:t>支持的微信关键词示例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0000" y="4500000"/>
            <a:ext cx="3780000" cy="18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4A7C59"/>
                </a:solidFill>
              </a:defRPr>
            </a:pPr>
            <a:r>
              <a:t>数字导航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0000" y="4716000"/>
            <a:ext cx="3780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A7568"/>
                </a:solidFill>
              </a:defRPr>
            </a:pPr>
            <a:r>
              <a:t>回复 1/2/3/4/5 分别进入房型/点餐/攻略/服务/咨询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28000" y="4500000"/>
            <a:ext cx="3780000" cy="18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4A7C59"/>
                </a:solidFill>
              </a:defRPr>
            </a:pPr>
            <a:r>
              <a:t>房型相关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28000" y="4716000"/>
            <a:ext cx="3780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A7568"/>
                </a:solidFill>
              </a:defRPr>
            </a:pPr>
            <a:r>
              <a:t>房间+编号 / 预订 / 绑定预订 / 退房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16000" y="4500000"/>
            <a:ext cx="3780000" cy="18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4A7C59"/>
                </a:solidFill>
              </a:defRPr>
            </a:pPr>
            <a:r>
              <a:t>餐饮相关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16000" y="4716000"/>
            <a:ext cx="3780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A7568"/>
                </a:solidFill>
              </a:defRPr>
            </a:pPr>
            <a:r>
              <a:t>菜单 / 点餐 / 美食 / 美食+编号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0000" y="5292000"/>
            <a:ext cx="3780000" cy="18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4A7C59"/>
                </a:solidFill>
              </a:defRPr>
            </a:pPr>
            <a:r>
              <a:t>出行相关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0000" y="5508000"/>
            <a:ext cx="3780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A7568"/>
                </a:solidFill>
              </a:defRPr>
            </a:pPr>
            <a:r>
              <a:t>攻略 / 路线+编号 / 地图 / 导航 / 位置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28000" y="5292000"/>
            <a:ext cx="3780000" cy="18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4A7C59"/>
                </a:solidFill>
              </a:defRPr>
            </a:pPr>
            <a:r>
              <a:t>服务相关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28000" y="5508000"/>
            <a:ext cx="3780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A7568"/>
                </a:solidFill>
              </a:defRPr>
            </a:pPr>
            <a:r>
              <a:t>服务+名称 / 打扫 / 续住 / 叫醒 / 维修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16000" y="5292000"/>
            <a:ext cx="3780000" cy="18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4A7C59"/>
                </a:solidFill>
              </a:defRPr>
            </a:pPr>
            <a:r>
              <a:t>AI对话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16000" y="5508000"/>
            <a:ext cx="3780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A7568"/>
                </a:solidFill>
              </a:defRPr>
            </a:pPr>
            <a:r>
              <a:t>预订后任意自然语言问题，AI管家自动应答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440000" y="6552000"/>
            <a:ext cx="1440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800" b="0">
                <a:solidFill>
                  <a:srgbClr val="9AA598"/>
                </a:solidFill>
              </a:defRPr>
            </a:pPr>
            <a:r>
              <a:t>10/14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288000"/>
            <a:ext cx="10800000" cy="54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600" b="1">
                <a:solidFill>
                  <a:srgbClr val="3B5E47"/>
                </a:solidFill>
              </a:defRPr>
            </a:pPr>
            <a:r>
              <a:t>预订渠道 -- 打通主流 OTA 平台</a:t>
            </a:r>
          </a:p>
        </p:txBody>
      </p:sp>
      <p:sp>
        <p:nvSpPr>
          <p:cNvPr id="3" name="Rectangle 2"/>
          <p:cNvSpPr/>
          <p:nvPr/>
        </p:nvSpPr>
        <p:spPr>
          <a:xfrm>
            <a:off x="1080000" y="900000"/>
            <a:ext cx="10032120" cy="10800"/>
          </a:xfrm>
          <a:prstGeom prst="rect">
            <a:avLst/>
          </a:prstGeom>
          <a:solidFill>
            <a:srgbClr val="C89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1080000"/>
            <a:ext cx="1080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6A7568"/>
                </a:solidFill>
              </a:defRPr>
            </a:pPr>
            <a:r>
              <a:t>云上归墅在以下平台均可在线预订。系统将为每个平台配置专属跳转链接，住客一键直达。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432000" y="1620000"/>
            <a:ext cx="2700000" cy="32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32000" y="1620000"/>
            <a:ext cx="2700000" cy="21600"/>
          </a:xfrm>
          <a:prstGeom prst="rect">
            <a:avLst/>
          </a:prstGeom>
          <a:solidFill>
            <a:srgbClr val="C89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6000" y="1728000"/>
            <a:ext cx="2412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3B5E47"/>
                </a:solidFill>
              </a:defRPr>
            </a:pPr>
            <a:r>
              <a:t>携程旅行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2340000"/>
            <a:ext cx="2412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6A7568"/>
                </a:solidFill>
              </a:defRPr>
            </a:pPr>
            <a:r>
              <a:t>搜索：云上归墅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00" y="2880000"/>
            <a:ext cx="2412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C8966A"/>
                </a:solidFill>
              </a:defRPr>
            </a:pPr>
            <a:r>
              <a:t>4.7分 . 85条评价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00" y="3600000"/>
            <a:ext cx="2412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6A7568"/>
                </a:solidFill>
              </a:defRPr>
            </a:pPr>
            <a:r>
              <a:t>民宿频道推荐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47999" y="1620000"/>
            <a:ext cx="2700000" cy="32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47999" y="1620000"/>
            <a:ext cx="2700000" cy="21600"/>
          </a:xfrm>
          <a:prstGeom prst="rect">
            <a:avLst/>
          </a:prstGeom>
          <a:solidFill>
            <a:srgbClr val="C89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91999" y="1728000"/>
            <a:ext cx="2412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3B5E47"/>
                </a:solidFill>
              </a:defRPr>
            </a:pPr>
            <a:r>
              <a:t>美团民宿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91999" y="2340000"/>
            <a:ext cx="2412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6A7568"/>
                </a:solidFill>
              </a:defRPr>
            </a:pPr>
            <a:r>
              <a:t>搜索：云上归墅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91999" y="2880000"/>
            <a:ext cx="2412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C8966A"/>
                </a:solidFill>
              </a:defRPr>
            </a:pPr>
            <a:r>
              <a:t>民宿频道优选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91999" y="3600000"/>
            <a:ext cx="2412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6A7568"/>
                </a:solidFill>
              </a:defRPr>
            </a:pPr>
            <a:r>
              <a:t>优惠活动多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999" y="1620000"/>
            <a:ext cx="2700000" cy="32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999" y="1620000"/>
            <a:ext cx="2700000" cy="21600"/>
          </a:xfrm>
          <a:prstGeom prst="rect">
            <a:avLst/>
          </a:prstGeom>
          <a:solidFill>
            <a:srgbClr val="C89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7999" y="1728000"/>
            <a:ext cx="2412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3B5E47"/>
                </a:solidFill>
              </a:defRPr>
            </a:pPr>
            <a:r>
              <a:t>飞猪旅行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7999" y="2340000"/>
            <a:ext cx="2412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6A7568"/>
                </a:solidFill>
              </a:defRPr>
            </a:pPr>
            <a:r>
              <a:t>搜索：云上归墅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7999" y="2880000"/>
            <a:ext cx="2412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C8966A"/>
                </a:solidFill>
              </a:defRPr>
            </a:pPr>
            <a:r>
              <a:t>支付宝小程序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7999" y="3600000"/>
            <a:ext cx="2412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6A7568"/>
                </a:solidFill>
              </a:defRPr>
            </a:pPr>
            <a:r>
              <a:t>信用住免押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79999" y="1620000"/>
            <a:ext cx="2700000" cy="32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179999" y="1620000"/>
            <a:ext cx="2700000" cy="21600"/>
          </a:xfrm>
          <a:prstGeom prst="rect">
            <a:avLst/>
          </a:prstGeom>
          <a:solidFill>
            <a:srgbClr val="C89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3999" y="1728000"/>
            <a:ext cx="2412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3B5E47"/>
                </a:solidFill>
              </a:defRPr>
            </a:pPr>
            <a:r>
              <a:t>大众点评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3999" y="2340000"/>
            <a:ext cx="2412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6A7568"/>
                </a:solidFill>
              </a:defRPr>
            </a:pPr>
            <a:r>
              <a:t>搜索：云上归墅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3999" y="2880000"/>
            <a:ext cx="2412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C8966A"/>
                </a:solidFill>
              </a:defRPr>
            </a:pPr>
            <a:r>
              <a:t>真实住客评价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3999" y="3600000"/>
            <a:ext cx="2412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6A7568"/>
                </a:solidFill>
              </a:defRPr>
            </a:pPr>
            <a:r>
              <a:t>周边推荐丰富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0000" y="5220000"/>
            <a:ext cx="10800000" cy="54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4A7C59"/>
                </a:solidFill>
              </a:defRPr>
            </a:pPr>
            <a:r>
              <a:t>预订成功后，在公众号内回复「绑定预订」即可解锁 AI 管家全部专属功能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0000" y="5760000"/>
            <a:ext cx="1080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9AA598"/>
                </a:solidFill>
              </a:defRPr>
            </a:pPr>
            <a:r>
              <a:t>预订咨询电话：16607927666  .  前台服务时间：每日 8:00 - 22:00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440000" y="6552000"/>
            <a:ext cx="1440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800" b="0">
                <a:solidFill>
                  <a:srgbClr val="9AA598"/>
                </a:solidFill>
              </a:defRPr>
            </a:pPr>
            <a:r>
              <a:t>11/14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3420000"/>
          </a:xfrm>
          <a:prstGeom prst="rect">
            <a:avLst/>
          </a:prstGeom>
          <a:solidFill>
            <a:srgbClr val="3B5E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420000"/>
            <a:ext cx="12192119" cy="343800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288000"/>
            <a:ext cx="1080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系统建成后将为云上归墅带来的预期价值</a:t>
            </a:r>
          </a:p>
        </p:txBody>
      </p:sp>
      <p:sp>
        <p:nvSpPr>
          <p:cNvPr id="5" name="Rectangle 4"/>
          <p:cNvSpPr/>
          <p:nvPr/>
        </p:nvSpPr>
        <p:spPr>
          <a:xfrm>
            <a:off x="432000" y="1620000"/>
            <a:ext cx="2736000" cy="2700000"/>
          </a:xfrm>
          <a:prstGeom prst="rect">
            <a:avLst/>
          </a:prstGeom>
          <a:solidFill>
            <a:srgbClr val="2A4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000" y="1692000"/>
            <a:ext cx="2376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600" b="0">
                <a:solidFill>
                  <a:srgbClr val="FFFFFF"/>
                </a:solidFill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612000" y="2124000"/>
            <a:ext cx="2376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服务自动化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000" y="2448000"/>
            <a:ext cx="2376000" cy="251999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BBCEC0"/>
                </a:solidFill>
              </a:defRPr>
            </a:pPr>
            <a:r>
              <a:t>  AI管家全天候在线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000" y="2772000"/>
            <a:ext cx="2376000" cy="251999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BBCEC0"/>
                </a:solidFill>
              </a:defRPr>
            </a:pPr>
            <a:r>
              <a:t>  常规咨询自动处理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000" y="3096000"/>
            <a:ext cx="2376000" cy="251999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BBCEC0"/>
                </a:solidFill>
              </a:defRPr>
            </a:pPr>
            <a:r>
              <a:t>  前台夜间无需值守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000" y="3420000"/>
            <a:ext cx="2376000" cy="251999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BBCEC0"/>
                </a:solidFill>
              </a:defRPr>
            </a:pPr>
            <a:r>
              <a:t>  住客体验一致优质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47999" y="1620000"/>
            <a:ext cx="2736000" cy="2700000"/>
          </a:xfrm>
          <a:prstGeom prst="rect">
            <a:avLst/>
          </a:prstGeom>
          <a:solidFill>
            <a:srgbClr val="2A4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27999" y="1692000"/>
            <a:ext cx="2376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600" b="0">
                <a:solidFill>
                  <a:srgbClr val="FFFFFF"/>
                </a:solidFill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3527999" y="2124000"/>
            <a:ext cx="2376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非房收入拓展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7999" y="2448000"/>
            <a:ext cx="2376000" cy="251999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BBCEC0"/>
                </a:solidFill>
              </a:defRPr>
            </a:pPr>
            <a:r>
              <a:t>  三山二水咖啡线上销售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7999" y="2772000"/>
            <a:ext cx="2376000" cy="251999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BBCEC0"/>
                </a:solidFill>
              </a:defRPr>
            </a:pPr>
            <a:r>
              <a:t>  饮品定制提升客单价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7999" y="3096000"/>
            <a:ext cx="2376000" cy="251999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BBCEC0"/>
                </a:solidFill>
              </a:defRPr>
            </a:pPr>
            <a:r>
              <a:t>  送餐到房无需下楼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7999" y="3420000"/>
            <a:ext cx="2376000" cy="251999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BBCEC0"/>
                </a:solidFill>
              </a:defRPr>
            </a:pPr>
            <a:r>
              <a:t>  拓展餐饮收入来源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999" y="1620000"/>
            <a:ext cx="2736000" cy="2700000"/>
          </a:xfrm>
          <a:prstGeom prst="rect">
            <a:avLst/>
          </a:prstGeom>
          <a:solidFill>
            <a:srgbClr val="2A4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3999" y="1692000"/>
            <a:ext cx="2376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600" b="0">
                <a:solidFill>
                  <a:srgbClr val="FFFFFF"/>
                </a:solidFill>
              </a:defRPr>
            </a:pPr>
          </a:p>
        </p:txBody>
      </p:sp>
      <p:sp>
        <p:nvSpPr>
          <p:cNvPr id="21" name="TextBox 20"/>
          <p:cNvSpPr txBox="1"/>
          <p:nvPr/>
        </p:nvSpPr>
        <p:spPr>
          <a:xfrm>
            <a:off x="6443999" y="2124000"/>
            <a:ext cx="2376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好评率提升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3999" y="2448000"/>
            <a:ext cx="2376000" cy="251999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BBCEC0"/>
                </a:solidFill>
              </a:defRPr>
            </a:pPr>
            <a:r>
              <a:t>  退房后智能推送提醒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3999" y="2772000"/>
            <a:ext cx="2376000" cy="251999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BBCEC0"/>
                </a:solidFill>
              </a:defRPr>
            </a:pPr>
            <a:r>
              <a:t>  积分激励写评价+80分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3999" y="3096000"/>
            <a:ext cx="2376000" cy="251999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BBCEC0"/>
                </a:solidFill>
              </a:defRPr>
            </a:pPr>
            <a:r>
              <a:t>  比人工催促更自然得体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3999" y="3420000"/>
            <a:ext cx="2376000" cy="251999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BBCEC0"/>
                </a:solidFill>
              </a:defRPr>
            </a:pPr>
            <a:r>
              <a:t>  评价数量和质量双提升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79999" y="1620000"/>
            <a:ext cx="2736000" cy="2700000"/>
          </a:xfrm>
          <a:prstGeom prst="rect">
            <a:avLst/>
          </a:prstGeom>
          <a:solidFill>
            <a:srgbClr val="2A4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59999" y="1692000"/>
            <a:ext cx="2376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600" b="0">
                <a:solidFill>
                  <a:srgbClr val="FFFFFF"/>
                </a:solidFill>
              </a:defRPr>
            </a:pPr>
          </a:p>
        </p:txBody>
      </p:sp>
      <p:sp>
        <p:nvSpPr>
          <p:cNvPr id="28" name="TextBox 27"/>
          <p:cNvSpPr txBox="1"/>
          <p:nvPr/>
        </p:nvSpPr>
        <p:spPr>
          <a:xfrm>
            <a:off x="9359999" y="2124000"/>
            <a:ext cx="2376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会员粘性增强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59999" y="2448000"/>
            <a:ext cx="2376000" cy="251999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BBCEC0"/>
                </a:solidFill>
              </a:defRPr>
            </a:pPr>
            <a:r>
              <a:t>  积分+等级+生日月福利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59999" y="2772000"/>
            <a:ext cx="2376000" cy="251999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BBCEC0"/>
                </a:solidFill>
              </a:defRPr>
            </a:pPr>
            <a:r>
              <a:t>  银卡-金卡-钻石卡进阶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59999" y="3096000"/>
            <a:ext cx="2376000" cy="251999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BBCEC0"/>
                </a:solidFill>
              </a:defRPr>
            </a:pPr>
            <a:r>
              <a:t>  钻石卡9折+专属管家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59999" y="3420000"/>
            <a:ext cx="2376000" cy="251999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BBCEC0"/>
                </a:solidFill>
              </a:defRPr>
            </a:pPr>
            <a:r>
              <a:t>  有效提升回头客比例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32000" y="4680000"/>
            <a:ext cx="11304000" cy="1260000"/>
          </a:xfrm>
          <a:prstGeom prst="rect">
            <a:avLst/>
          </a:prstGeom>
          <a:solidFill>
            <a:srgbClr val="2A4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8000" y="4788000"/>
            <a:ext cx="1080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项目定位：为庐山民宿打造标杆级智能服务体系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8000" y="5328000"/>
            <a:ext cx="10800000" cy="54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DDE8DD"/>
                </a:solidFill>
              </a:defRPr>
            </a:pPr>
            <a:r>
              <a:t>作为首个合作项目，云上归墅将率先体验完整的微信公众号智能化服务方案。</a:t>
            </a:r>
            <a:br/>
            <a:r>
              <a:t>我们将根据实际运营反馈持续优化迭代，确保系统真正贴合民宿的日常需求。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0000" y="6120000"/>
            <a:ext cx="1080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AABEB0"/>
                </a:solidFill>
              </a:defRPr>
            </a:pPr>
            <a:r>
              <a:t>项目规划方案  .  2026年6月  .  期待与云上归墅携手共建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440000" y="6552000"/>
            <a:ext cx="1440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800" b="0">
                <a:solidFill>
                  <a:srgbClr val="9AA598"/>
                </a:solidFill>
              </a:defRPr>
            </a:pPr>
            <a:r>
              <a:t>12/14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288000"/>
            <a:ext cx="10800000" cy="54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600" b="1">
                <a:solidFill>
                  <a:srgbClr val="3B5E47"/>
                </a:solidFill>
              </a:defRPr>
            </a:pPr>
            <a:r>
              <a:t>项目信息</a:t>
            </a:r>
          </a:p>
        </p:txBody>
      </p:sp>
      <p:sp>
        <p:nvSpPr>
          <p:cNvPr id="3" name="Rectangle 2"/>
          <p:cNvSpPr/>
          <p:nvPr/>
        </p:nvSpPr>
        <p:spPr>
          <a:xfrm>
            <a:off x="1080000" y="900000"/>
            <a:ext cx="10032120" cy="10800"/>
          </a:xfrm>
          <a:prstGeom prst="rect">
            <a:avLst/>
          </a:prstGeom>
          <a:solidFill>
            <a:srgbClr val="C89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0000" y="1440000"/>
            <a:ext cx="5400000" cy="43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0000" y="1548000"/>
            <a:ext cx="5040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3B5E47"/>
                </a:solidFill>
              </a:defRPr>
            </a:pPr>
            <a:r>
              <a:t>云上归墅民宿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980000"/>
            <a:ext cx="5040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2A3328"/>
                </a:solidFill>
              </a:defRPr>
            </a:pPr>
            <a:r>
              <a:t>  . 名称：云上归墅民宿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20000"/>
            <a:ext cx="5040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2A3328"/>
                </a:solidFill>
              </a:defRPr>
            </a:pPr>
            <a:r>
              <a:t>  . 地址：庐山山上.大林沟路27号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0000" y="3060000"/>
            <a:ext cx="5040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2A3328"/>
                </a:solidFill>
              </a:defRPr>
            </a:pPr>
            <a:r>
              <a:t>  . 规模：11间客房 U型三层山居小院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3600000"/>
            <a:ext cx="5040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2A3328"/>
                </a:solidFill>
              </a:defRPr>
            </a:pPr>
            <a:r>
              <a:t>  . 开业：2016年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0000" y="4140000"/>
            <a:ext cx="5040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2A3328"/>
                </a:solidFill>
              </a:defRPr>
            </a:pPr>
            <a:r>
              <a:t>  . 配套：一楼三山二水咖啡馆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0000" y="4680000"/>
            <a:ext cx="5040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2A3328"/>
                </a:solidFill>
              </a:defRPr>
            </a:pPr>
            <a:r>
              <a:t>  . 电话：16607927666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0000" y="1440000"/>
            <a:ext cx="5400000" cy="43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80000" y="1548000"/>
            <a:ext cx="5040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3B5E47"/>
                </a:solidFill>
              </a:defRPr>
            </a:pPr>
            <a:r>
              <a:t>系统规划内容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0000" y="1980000"/>
            <a:ext cx="5040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2A3328"/>
                </a:solidFill>
              </a:defRPr>
            </a:pPr>
            <a:r>
              <a:t>  . 平台：微信公众号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80000" y="2520000"/>
            <a:ext cx="5040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2A3328"/>
                </a:solidFill>
              </a:defRPr>
            </a:pPr>
            <a:r>
              <a:t>  . 页面：10个H5移动端页面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80000" y="3060000"/>
            <a:ext cx="5040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2A3328"/>
                </a:solidFill>
              </a:defRPr>
            </a:pPr>
            <a:r>
              <a:t>  . 核心：三阶段AI智能管家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80000" y="3600000"/>
            <a:ext cx="5040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2A3328"/>
                </a:solidFill>
              </a:defRPr>
            </a:pPr>
            <a:r>
              <a:t>  . 服务：21项快捷服务+积分体系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80000" y="4140000"/>
            <a:ext cx="5040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2A3328"/>
                </a:solidFill>
              </a:defRPr>
            </a:pPr>
            <a:r>
              <a:t>  . 管理：多平台订单聚合看板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80000" y="4680000"/>
            <a:ext cx="5040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2A3328"/>
                </a:solidFill>
              </a:defRPr>
            </a:pPr>
            <a:r>
              <a:t>  . 运营：每周自动生成经营周报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0000" y="6120000"/>
            <a:ext cx="1080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C8966A"/>
                </a:solidFill>
              </a:defRPr>
            </a:pPr>
            <a:r>
              <a:t>项目规划方案  .  2026年6月  .  微信公众号搜索「云上归墅民宿」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40000" y="6552000"/>
            <a:ext cx="1440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800" b="0">
                <a:solidFill>
                  <a:srgbClr val="9AA598"/>
                </a:solidFill>
              </a:defRPr>
            </a:pPr>
            <a:r>
              <a:t>13/14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3420000"/>
          </a:xfrm>
          <a:prstGeom prst="rect">
            <a:avLst/>
          </a:prstGeom>
          <a:solidFill>
            <a:srgbClr val="3B5E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420000"/>
            <a:ext cx="12192119" cy="343800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1080000"/>
            <a:ext cx="10800000" cy="90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云上 . 归墅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2160000"/>
            <a:ext cx="10800000" cy="54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C8966A"/>
                </a:solidFill>
              </a:defRPr>
            </a:pPr>
            <a:r>
              <a:t>云无心以出岫，鸟倦飞而知还</a:t>
            </a:r>
          </a:p>
        </p:txBody>
      </p:sp>
      <p:sp>
        <p:nvSpPr>
          <p:cNvPr id="6" name="Rectangle 5"/>
          <p:cNvSpPr/>
          <p:nvPr/>
        </p:nvSpPr>
        <p:spPr>
          <a:xfrm>
            <a:off x="1080000" y="2880000"/>
            <a:ext cx="10032120" cy="10800"/>
          </a:xfrm>
          <a:prstGeom prst="rect">
            <a:avLst/>
          </a:prstGeom>
          <a:solidFill>
            <a:srgbClr val="5A8C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0000" y="3240000"/>
            <a:ext cx="10800000" cy="72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CCDCD0"/>
                </a:solidFill>
              </a:defRPr>
            </a:pPr>
            <a:r>
              <a:t>微信公众号智能服务系统 . 项目规划方案</a:t>
            </a:r>
          </a:p>
        </p:txBody>
      </p:sp>
      <p:sp>
        <p:nvSpPr>
          <p:cNvPr id="8" name="Rectangle 7"/>
          <p:cNvSpPr/>
          <p:nvPr/>
        </p:nvSpPr>
        <p:spPr>
          <a:xfrm>
            <a:off x="2880000" y="4320000"/>
            <a:ext cx="6480000" cy="1260000"/>
          </a:xfrm>
          <a:prstGeom prst="rect">
            <a:avLst/>
          </a:prstGeom>
          <a:solidFill>
            <a:srgbClr val="2A4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60000" y="4428000"/>
            <a:ext cx="6120000" cy="54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期待与云上归墅携手共建</a:t>
            </a:r>
            <a:br/>
            <a:r>
              <a:t>打造庐山民宿智能服务新标杆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60000" y="5148000"/>
            <a:ext cx="612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BBCEC0"/>
                </a:solidFill>
              </a:defRPr>
            </a:pPr>
            <a:r>
              <a:t>微信搜索：云上归墅民宿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0000" y="6120000"/>
            <a:ext cx="1080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99AE9F"/>
                </a:solidFill>
              </a:defRPr>
            </a:pPr>
            <a:r>
              <a:t>庐山山上 . 大林沟路27号  |  16607927666  |  2026年6月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40000" y="6552000"/>
            <a:ext cx="1440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800" b="0">
                <a:solidFill>
                  <a:srgbClr val="9AA598"/>
                </a:solidFill>
              </a:defRPr>
            </a:pPr>
            <a:r>
              <a:t>14/14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